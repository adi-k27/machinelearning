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369" r:id="rId3"/>
    <p:sldId id="451" r:id="rId4"/>
    <p:sldId id="470" r:id="rId5"/>
    <p:sldId id="461" r:id="rId6"/>
    <p:sldId id="460" r:id="rId7"/>
    <p:sldId id="462" r:id="rId8"/>
    <p:sldId id="463" r:id="rId9"/>
    <p:sldId id="464" r:id="rId10"/>
    <p:sldId id="449" r:id="rId11"/>
    <p:sldId id="469" r:id="rId12"/>
    <p:sldId id="466" r:id="rId13"/>
    <p:sldId id="467" r:id="rId14"/>
    <p:sldId id="468" r:id="rId15"/>
    <p:sldId id="465" r:id="rId16"/>
    <p:sldId id="459" r:id="rId17"/>
    <p:sldId id="471" r:id="rId18"/>
    <p:sldId id="353" r:id="rId19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9278"/>
    <a:srgbClr val="0070C0"/>
    <a:srgbClr val="267A52"/>
    <a:srgbClr val="76D6FF"/>
    <a:srgbClr val="FF2600"/>
    <a:srgbClr val="FF9300"/>
    <a:srgbClr val="73FEFF"/>
    <a:srgbClr val="FF85FF"/>
    <a:srgbClr val="43B02A"/>
    <a:srgbClr val="0067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16" autoAdjust="0"/>
    <p:restoredTop sz="93773" autoAdjust="0"/>
  </p:normalViewPr>
  <p:slideViewPr>
    <p:cSldViewPr snapToGrid="0" snapToObjects="1">
      <p:cViewPr varScale="1">
        <p:scale>
          <a:sx n="81" d="100"/>
          <a:sy n="81" d="100"/>
        </p:scale>
        <p:origin x="942" y="84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30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27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31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51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25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08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0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48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0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85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18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78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62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1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40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28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tiff"/><Relationship Id="rId4" Type="http://schemas.openxmlformats.org/officeDocument/2006/relationships/image" Target="../media/image20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tif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81" y="2557219"/>
            <a:ext cx="13786521" cy="1348353"/>
          </a:xfrm>
        </p:spPr>
        <p:txBody>
          <a:bodyPr>
            <a:normAutofit/>
          </a:bodyPr>
          <a:lstStyle/>
          <a:p>
            <a:r>
              <a:rPr lang="en-US" dirty="0">
                <a:latin typeface="Avenir Roman" panose="02000503020000020003" pitchFamily="2" charset="0"/>
                <a:cs typeface="Calibri" panose="020F0502020204030204" pitchFamily="34" charset="0"/>
              </a:rPr>
              <a:t>Welcome to Week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733" y="4264282"/>
            <a:ext cx="7985655" cy="927650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Time Series Analysis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1A0EAF8-BE58-EFBC-9802-1BD8BF8DBFC5}"/>
              </a:ext>
            </a:extLst>
          </p:cNvPr>
          <p:cNvSpPr txBox="1">
            <a:spLocks/>
          </p:cNvSpPr>
          <p:nvPr/>
        </p:nvSpPr>
        <p:spPr>
          <a:xfrm>
            <a:off x="829733" y="7623019"/>
            <a:ext cx="7985655" cy="927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81583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Tx/>
              <a:buNone/>
              <a:defRPr sz="48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indent="0" algn="ctr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63167" indent="0" algn="ctr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None/>
              <a:defRPr sz="32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344750" indent="0" algn="ctr" defTabSz="781583" rtl="0" eaLnBrk="1" latinLnBrk="0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Arial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126334" indent="0" algn="ctr" defTabSz="781583" rtl="0" eaLnBrk="1" latinLnBrk="0" hangingPunct="1">
              <a:spcBef>
                <a:spcPct val="20000"/>
              </a:spcBef>
              <a:buFont typeface="Arial"/>
              <a:buNone/>
              <a:defRPr sz="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907917" indent="0" algn="ctr" defTabSz="781583" rtl="0" eaLnBrk="1" latinLnBrk="0" hangingPunct="1">
              <a:spcBef>
                <a:spcPct val="20000"/>
              </a:spcBef>
              <a:buFont typeface="Arial"/>
              <a:buNone/>
              <a:defRPr sz="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689500" indent="0" algn="ctr" defTabSz="781583" rtl="0" eaLnBrk="1" latinLnBrk="0" hangingPunct="1">
              <a:spcBef>
                <a:spcPct val="20000"/>
              </a:spcBef>
              <a:buFont typeface="Arial"/>
              <a:buNone/>
              <a:defRPr sz="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471084" indent="0" algn="ctr" defTabSz="781583" rtl="0" eaLnBrk="1" latinLnBrk="0" hangingPunct="1">
              <a:spcBef>
                <a:spcPct val="20000"/>
              </a:spcBef>
              <a:buFont typeface="Arial"/>
              <a:buNone/>
              <a:defRPr sz="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6252667" indent="0" algn="ctr" defTabSz="781583" rtl="0" eaLnBrk="1" latinLnBrk="0" hangingPunct="1">
              <a:spcBef>
                <a:spcPct val="20000"/>
              </a:spcBef>
              <a:buFont typeface="Arial"/>
              <a:buNone/>
              <a:defRPr sz="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latin typeface="Avenir Book" panose="02000503020000020003" pitchFamily="2" charset="0"/>
                <a:cs typeface="Calibri" panose="020F0502020204030204" pitchFamily="34" charset="0"/>
              </a:rPr>
              <a:t>Prof: Swapnil Kangralkar</a:t>
            </a:r>
          </a:p>
        </p:txBody>
      </p:sp>
    </p:spTree>
    <p:extLst>
      <p:ext uri="{BB962C8B-B14F-4D97-AF65-F5344CB8AC3E}">
        <p14:creationId xmlns:p14="http://schemas.microsoft.com/office/powerpoint/2010/main" val="369581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60" y="1298557"/>
            <a:ext cx="11906863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8D1E44-FBDE-F140-B47B-D8E3A6B52F78}"/>
              </a:ext>
            </a:extLst>
          </p:cNvPr>
          <p:cNvSpPr/>
          <p:nvPr/>
        </p:nvSpPr>
        <p:spPr>
          <a:xfrm>
            <a:off x="872445" y="2853435"/>
            <a:ext cx="13449915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Fundamentals of Time Series</a:t>
            </a:r>
          </a:p>
          <a:p>
            <a:endParaRPr lang="en-IN" sz="3400" dirty="0">
              <a:solidFill>
                <a:schemeClr val="tx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Time Series and it’s applications</a:t>
            </a:r>
          </a:p>
          <a:p>
            <a:endParaRPr lang="en-IN" sz="3400" dirty="0">
              <a:solidFill>
                <a:schemeClr val="tx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Characteristics of Time Series</a:t>
            </a:r>
          </a:p>
          <a:p>
            <a:endParaRPr lang="en-IN" sz="3400" dirty="0">
              <a:solidFill>
                <a:schemeClr val="tx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Forecasting using a Time Series Model</a:t>
            </a:r>
          </a:p>
        </p:txBody>
      </p:sp>
    </p:spTree>
    <p:extLst>
      <p:ext uri="{BB962C8B-B14F-4D97-AF65-F5344CB8AC3E}">
        <p14:creationId xmlns:p14="http://schemas.microsoft.com/office/powerpoint/2010/main" val="156660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60" y="1012807"/>
            <a:ext cx="11906863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Time Series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8D1E44-FBDE-F140-B47B-D8E3A6B52F78}"/>
              </a:ext>
            </a:extLst>
          </p:cNvPr>
          <p:cNvSpPr/>
          <p:nvPr/>
        </p:nvSpPr>
        <p:spPr>
          <a:xfrm>
            <a:off x="980460" y="2210497"/>
            <a:ext cx="13449915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Time Series is a set of observations taken at specified times, usually at equal intervals.</a:t>
            </a:r>
          </a:p>
          <a:p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e.g. daily stock prices or weekly sales data </a:t>
            </a:r>
          </a:p>
          <a:p>
            <a:endParaRPr lang="en-IN" sz="3400" dirty="0">
              <a:solidFill>
                <a:schemeClr val="tx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With time series, we try to establish a relationship between the “</a:t>
            </a:r>
            <a:r>
              <a:rPr lang="en-IN" sz="3400" b="1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cause</a:t>
            </a:r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” and “</a:t>
            </a:r>
            <a:r>
              <a:rPr lang="en-IN" sz="3400" b="1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effects</a:t>
            </a:r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” and model the behaviour of the series.</a:t>
            </a:r>
          </a:p>
          <a:p>
            <a:endParaRPr lang="en-IN" sz="3400" dirty="0">
              <a:solidFill>
                <a:schemeClr val="tx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When modelling with time series you would have an independent variable “Time”, and a dependant variable “Data”</a:t>
            </a:r>
          </a:p>
          <a:p>
            <a:endParaRPr lang="en-IN" sz="3400" dirty="0">
              <a:solidFill>
                <a:schemeClr val="tx1">
                  <a:lumMod val="50000"/>
                </a:schemeClr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8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60" y="1012807"/>
            <a:ext cx="11906863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Why Time Series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8D1E44-FBDE-F140-B47B-D8E3A6B52F78}"/>
              </a:ext>
            </a:extLst>
          </p:cNvPr>
          <p:cNvSpPr/>
          <p:nvPr/>
        </p:nvSpPr>
        <p:spPr>
          <a:xfrm>
            <a:off x="1241717" y="2956173"/>
            <a:ext cx="1344991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Methods of modelling time series assume that history repeats itself—if not exactly, then closely enough that by studying the past, you can make better decisions in the future. </a:t>
            </a:r>
          </a:p>
          <a:p>
            <a:endParaRPr lang="en-IN" sz="3400" dirty="0">
              <a:solidFill>
                <a:schemeClr val="tx1">
                  <a:lumMod val="50000"/>
                </a:schemeClr>
              </a:solidFill>
              <a:latin typeface="Avenir Book" panose="02000503020000020003" pitchFamily="2" charset="0"/>
            </a:endParaRPr>
          </a:p>
          <a:p>
            <a:r>
              <a:rPr lang="en-IN" sz="3400" dirty="0">
                <a:solidFill>
                  <a:schemeClr val="tx1">
                    <a:lumMod val="50000"/>
                  </a:schemeClr>
                </a:solidFill>
                <a:latin typeface="Avenir Book" panose="02000503020000020003" pitchFamily="2" charset="0"/>
              </a:rPr>
              <a:t>Forecasts are an essential tool in many planning processes which help you make informed decisions. </a:t>
            </a:r>
          </a:p>
        </p:txBody>
      </p:sp>
    </p:spTree>
    <p:extLst>
      <p:ext uri="{BB962C8B-B14F-4D97-AF65-F5344CB8AC3E}">
        <p14:creationId xmlns:p14="http://schemas.microsoft.com/office/powerpoint/2010/main" val="62978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61" y="1012807"/>
            <a:ext cx="6977678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Time Series Analysis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B5449F-1628-A541-8766-8FAA2A962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993353"/>
              </p:ext>
            </p:extLst>
          </p:nvPr>
        </p:nvGraphicFramePr>
        <p:xfrm>
          <a:off x="1095111" y="2068425"/>
          <a:ext cx="4919927" cy="3726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889">
                  <a:extLst>
                    <a:ext uri="{9D8B030D-6E8A-4147-A177-3AD203B41FA5}">
                      <a16:colId xmlns:a16="http://schemas.microsoft.com/office/drawing/2014/main" val="710082195"/>
                    </a:ext>
                  </a:extLst>
                </a:gridCol>
                <a:gridCol w="2586038">
                  <a:extLst>
                    <a:ext uri="{9D8B030D-6E8A-4147-A177-3AD203B41FA5}">
                      <a16:colId xmlns:a16="http://schemas.microsoft.com/office/drawing/2014/main" val="3606788816"/>
                    </a:ext>
                  </a:extLst>
                </a:gridCol>
              </a:tblGrid>
              <a:tr h="526381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Avenir Book" panose="02000503020000020003" pitchFamily="2" charset="0"/>
                        </a:rP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Avenir Book" panose="02000503020000020003" pitchFamily="2" charset="0"/>
                        </a:rPr>
                        <a:t>Breads sold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99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latin typeface="Avenir Light" panose="020B0402020203020204" pitchFamily="34" charset="77"/>
                        </a:rPr>
                        <a:t>Monday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3201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latin typeface="Avenir Light" panose="020B0402020203020204" pitchFamily="34" charset="77"/>
                        </a:rPr>
                        <a:t>Tuesday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68777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latin typeface="Avenir Light" panose="020B0402020203020204" pitchFamily="34" charset="77"/>
                        </a:rPr>
                        <a:t>Wednesday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96554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latin typeface="Avenir Light" panose="020B0402020203020204" pitchFamily="34" charset="77"/>
                        </a:rPr>
                        <a:t>Thursday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1793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latin typeface="Avenir Light" panose="020B0402020203020204" pitchFamily="34" charset="77"/>
                        </a:rPr>
                        <a:t>Friday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5674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latin typeface="Avenir Light" panose="020B0402020203020204" pitchFamily="34" charset="77"/>
                        </a:rPr>
                        <a:t>Saturday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9027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latin typeface="Avenir Light" panose="020B0402020203020204" pitchFamily="34" charset="77"/>
                        </a:rPr>
                        <a:t>Sunday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671345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9BC13CF-9895-ED4D-93D0-B6BAC3F03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924418"/>
              </p:ext>
            </p:extLst>
          </p:nvPr>
        </p:nvGraphicFramePr>
        <p:xfrm>
          <a:off x="7958139" y="2052506"/>
          <a:ext cx="4919927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389">
                  <a:extLst>
                    <a:ext uri="{9D8B030D-6E8A-4147-A177-3AD203B41FA5}">
                      <a16:colId xmlns:a16="http://schemas.microsoft.com/office/drawing/2014/main" val="710082195"/>
                    </a:ext>
                  </a:extLst>
                </a:gridCol>
                <a:gridCol w="3157538">
                  <a:extLst>
                    <a:ext uri="{9D8B030D-6E8A-4147-A177-3AD203B41FA5}">
                      <a16:colId xmlns:a16="http://schemas.microsoft.com/office/drawing/2014/main" val="3606788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Avenir Book" panose="02000503020000020003" pitchFamily="2" charset="0"/>
                        </a:rPr>
                        <a:t>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Avenir Book" panose="02000503020000020003" pitchFamily="2" charset="0"/>
                        </a:rPr>
                        <a:t>Stock Price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99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3201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2001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68777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2002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83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96554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2003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1793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2004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5674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117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9027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2006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Avenir Light" panose="020B0402020203020204" pitchFamily="34" charset="77"/>
                          <a:ea typeface="+mn-ea"/>
                          <a:cs typeface="+mn-cs"/>
                        </a:rPr>
                        <a:t>140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6713457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06AE97F-B57D-2045-9DD6-8C8B1F2A6021}"/>
              </a:ext>
            </a:extLst>
          </p:cNvPr>
          <p:cNvSpPr/>
          <p:nvPr/>
        </p:nvSpPr>
        <p:spPr>
          <a:xfrm>
            <a:off x="1095111" y="6237000"/>
            <a:ext cx="1320667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venir Light" panose="020B0402020203020204" pitchFamily="34" charset="77"/>
              </a:rPr>
              <a:t>From table 1 we can observe the sales of bread goes down during the weekday and increases on the weekend.</a:t>
            </a:r>
          </a:p>
          <a:p>
            <a:endParaRPr lang="en-US" sz="2800" dirty="0">
              <a:solidFill>
                <a:schemeClr val="tx1">
                  <a:lumMod val="50000"/>
                </a:schemeClr>
              </a:solidFill>
              <a:latin typeface="Avenir Light" panose="020B0402020203020204" pitchFamily="34" charset="77"/>
            </a:endParaRPr>
          </a:p>
          <a:p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venir Light" panose="020B0402020203020204" pitchFamily="34" charset="77"/>
              </a:rPr>
              <a:t>From table 2 we can observe the stock price increasing since 2000 through 2006.</a:t>
            </a:r>
            <a:endParaRPr 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11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60" y="1012807"/>
            <a:ext cx="11906863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Endogenous vs Exogenous Variables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8D1E44-FBDE-F140-B47B-D8E3A6B52F78}"/>
              </a:ext>
            </a:extLst>
          </p:cNvPr>
          <p:cNvSpPr/>
          <p:nvPr/>
        </p:nvSpPr>
        <p:spPr>
          <a:xfrm>
            <a:off x="980460" y="2010428"/>
            <a:ext cx="1372137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400" b="1" dirty="0">
                <a:solidFill>
                  <a:schemeClr val="accent5"/>
                </a:solidFill>
                <a:latin typeface="Avenir Book" panose="02000503020000020003" pitchFamily="2" charset="0"/>
              </a:rPr>
              <a:t>Endogenous</a:t>
            </a:r>
            <a:r>
              <a:rPr lang="en-IN" sz="3400" dirty="0">
                <a:solidFill>
                  <a:schemeClr val="accent5"/>
                </a:solidFill>
                <a:latin typeface="Avenir Book" panose="02000503020000020003" pitchFamily="2" charset="0"/>
              </a:rPr>
              <a:t> </a:t>
            </a:r>
            <a:r>
              <a:rPr lang="en-IN" sz="3400" b="1" dirty="0">
                <a:solidFill>
                  <a:schemeClr val="accent5"/>
                </a:solidFill>
                <a:latin typeface="Avenir Book" panose="02000503020000020003" pitchFamily="2" charset="0"/>
              </a:rPr>
              <a:t>variables</a:t>
            </a:r>
            <a:r>
              <a:rPr lang="en-IN" sz="3400" dirty="0">
                <a:solidFill>
                  <a:schemeClr val="accent5"/>
                </a:solidFill>
                <a:latin typeface="Avenir Book" panose="02000503020000020003" pitchFamily="2" charset="0"/>
              </a:rPr>
              <a:t> have values that are determined by other variables in the system. </a:t>
            </a:r>
          </a:p>
          <a:p>
            <a:r>
              <a:rPr lang="en-IN" sz="3400" dirty="0">
                <a:solidFill>
                  <a:schemeClr val="accent5"/>
                </a:solidFill>
                <a:latin typeface="Avenir Book" panose="02000503020000020003" pitchFamily="2" charset="0"/>
              </a:rPr>
              <a:t>(these “other” variables are called </a:t>
            </a:r>
            <a:r>
              <a:rPr lang="en-IN" sz="3400" b="1" dirty="0">
                <a:solidFill>
                  <a:schemeClr val="accent5"/>
                </a:solidFill>
                <a:latin typeface="Avenir Book" panose="02000503020000020003" pitchFamily="2" charset="0"/>
              </a:rPr>
              <a:t>exogenous</a:t>
            </a:r>
            <a:r>
              <a:rPr lang="en-IN" sz="3400" dirty="0">
                <a:solidFill>
                  <a:schemeClr val="accent5"/>
                </a:solidFill>
                <a:latin typeface="Avenir Book" panose="02000503020000020003" pitchFamily="2" charset="0"/>
              </a:rPr>
              <a:t> </a:t>
            </a:r>
            <a:r>
              <a:rPr lang="en-IN" sz="3400" b="1" dirty="0">
                <a:solidFill>
                  <a:schemeClr val="accent5"/>
                </a:solidFill>
                <a:latin typeface="Avenir Book" panose="02000503020000020003" pitchFamily="2" charset="0"/>
              </a:rPr>
              <a:t>variables</a:t>
            </a:r>
            <a:r>
              <a:rPr lang="en-IN" sz="3400" dirty="0">
                <a:solidFill>
                  <a:schemeClr val="accent5"/>
                </a:solidFill>
                <a:latin typeface="Avenir Book" panose="02000503020000020003" pitchFamily="2" charset="0"/>
              </a:rPr>
              <a:t>)</a:t>
            </a:r>
          </a:p>
          <a:p>
            <a:endParaRPr lang="en-IN" sz="3400" dirty="0">
              <a:solidFill>
                <a:schemeClr val="accent5"/>
              </a:solidFill>
              <a:latin typeface="Avenir Book" panose="02000503020000020003" pitchFamily="2" charset="0"/>
            </a:endParaRPr>
          </a:p>
          <a:p>
            <a:r>
              <a:rPr lang="en-IN" sz="3400" dirty="0">
                <a:solidFill>
                  <a:schemeClr val="accent5"/>
                </a:solidFill>
                <a:latin typeface="Avenir Book" panose="02000503020000020003" pitchFamily="2" charset="0"/>
              </a:rPr>
              <a:t>An exogenous variable is a variable that is not affected by other variables in the system.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3434FB-B54E-4642-AA53-43EFDEDF8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123724"/>
              </p:ext>
            </p:extLst>
          </p:nvPr>
        </p:nvGraphicFramePr>
        <p:xfrm>
          <a:off x="2248956" y="5945250"/>
          <a:ext cx="10838392" cy="11734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65807">
                  <a:extLst>
                    <a:ext uri="{9D8B030D-6E8A-4147-A177-3AD203B41FA5}">
                      <a16:colId xmlns:a16="http://schemas.microsoft.com/office/drawing/2014/main" val="3577504963"/>
                    </a:ext>
                  </a:extLst>
                </a:gridCol>
                <a:gridCol w="3514725">
                  <a:extLst>
                    <a:ext uri="{9D8B030D-6E8A-4147-A177-3AD203B41FA5}">
                      <a16:colId xmlns:a16="http://schemas.microsoft.com/office/drawing/2014/main" val="3919956035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692187433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1299424617"/>
                    </a:ext>
                  </a:extLst>
                </a:gridCol>
                <a:gridCol w="1843085">
                  <a:extLst>
                    <a:ext uri="{9D8B030D-6E8A-4147-A177-3AD203B41FA5}">
                      <a16:colId xmlns:a16="http://schemas.microsoft.com/office/drawing/2014/main" val="317539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400" kern="1200" dirty="0">
                          <a:solidFill>
                            <a:schemeClr val="accent5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kern="1200" dirty="0">
                          <a:solidFill>
                            <a:schemeClr val="accent5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crop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kern="1200" dirty="0">
                          <a:solidFill>
                            <a:schemeClr val="accent5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soil 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kern="1200" dirty="0">
                          <a:solidFill>
                            <a:schemeClr val="accent5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kern="1200" dirty="0">
                          <a:solidFill>
                            <a:schemeClr val="accent5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440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122962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9D70459-160E-9D47-BCBD-C24609DBA0E0}"/>
              </a:ext>
            </a:extLst>
          </p:cNvPr>
          <p:cNvSpPr/>
          <p:nvPr/>
        </p:nvSpPr>
        <p:spPr>
          <a:xfrm>
            <a:off x="2328862" y="5745181"/>
            <a:ext cx="1400175" cy="914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F36F1A5-37FD-154A-B91E-2C1ED14582FA}"/>
              </a:ext>
            </a:extLst>
          </p:cNvPr>
          <p:cNvSpPr/>
          <p:nvPr/>
        </p:nvSpPr>
        <p:spPr>
          <a:xfrm>
            <a:off x="3938587" y="5745181"/>
            <a:ext cx="3262313" cy="914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4189E6C-505B-4F49-9BD9-2608E3DFDFE4}"/>
              </a:ext>
            </a:extLst>
          </p:cNvPr>
          <p:cNvSpPr/>
          <p:nvPr/>
        </p:nvSpPr>
        <p:spPr>
          <a:xfrm>
            <a:off x="9363074" y="5773800"/>
            <a:ext cx="1752601" cy="914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2ED646-8457-264B-9C81-5E576D44952A}"/>
              </a:ext>
            </a:extLst>
          </p:cNvPr>
          <p:cNvCxnSpPr>
            <a:cxnSpLocks/>
          </p:cNvCxnSpPr>
          <p:nvPr/>
        </p:nvCxnSpPr>
        <p:spPr>
          <a:xfrm flipV="1">
            <a:off x="2914650" y="6873894"/>
            <a:ext cx="0" cy="700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C95FF5-EFE8-C04E-B992-69A7E56A8820}"/>
              </a:ext>
            </a:extLst>
          </p:cNvPr>
          <p:cNvCxnSpPr>
            <a:cxnSpLocks/>
          </p:cNvCxnSpPr>
          <p:nvPr/>
        </p:nvCxnSpPr>
        <p:spPr>
          <a:xfrm flipV="1">
            <a:off x="5524500" y="6873894"/>
            <a:ext cx="0" cy="700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6FDCB7-1641-0A4C-8F5B-80B6B02C0CFC}"/>
              </a:ext>
            </a:extLst>
          </p:cNvPr>
          <p:cNvCxnSpPr>
            <a:cxnSpLocks/>
          </p:cNvCxnSpPr>
          <p:nvPr/>
        </p:nvCxnSpPr>
        <p:spPr>
          <a:xfrm flipV="1">
            <a:off x="10206037" y="6873894"/>
            <a:ext cx="0" cy="700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8891FB8-A9E1-9449-B4E7-B311BECE8D23}"/>
              </a:ext>
            </a:extLst>
          </p:cNvPr>
          <p:cNvSpPr/>
          <p:nvPr/>
        </p:nvSpPr>
        <p:spPr>
          <a:xfrm>
            <a:off x="1938260" y="7591065"/>
            <a:ext cx="1952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  <a:latin typeface="Avenir Book" panose="02000503020000020003" pitchFamily="2" charset="0"/>
              </a:rPr>
              <a:t>independent</a:t>
            </a:r>
            <a:endParaRPr lang="en-US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591FC0-087D-8549-B5A1-FB252C69A469}"/>
              </a:ext>
            </a:extLst>
          </p:cNvPr>
          <p:cNvSpPr/>
          <p:nvPr/>
        </p:nvSpPr>
        <p:spPr>
          <a:xfrm>
            <a:off x="4561736" y="7591064"/>
            <a:ext cx="19255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  <a:latin typeface="Avenir Book" panose="02000503020000020003" pitchFamily="2" charset="0"/>
              </a:rPr>
              <a:t>Endogenous</a:t>
            </a:r>
            <a:endParaRPr lang="en-US" sz="2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8327BE-5C5D-6249-8E40-E0F78F88DAE7}"/>
              </a:ext>
            </a:extLst>
          </p:cNvPr>
          <p:cNvSpPr/>
          <p:nvPr/>
        </p:nvSpPr>
        <p:spPr>
          <a:xfrm>
            <a:off x="9363074" y="7573981"/>
            <a:ext cx="17155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  <a:latin typeface="Avenir Book" panose="02000503020000020003" pitchFamily="2" charset="0"/>
              </a:rPr>
              <a:t>Exogenous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6153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87" y="898507"/>
            <a:ext cx="5791813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Characteristics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BDE40C-431E-2D41-A02F-4A68461F75CE}"/>
              </a:ext>
            </a:extLst>
          </p:cNvPr>
          <p:cNvSpPr/>
          <p:nvPr/>
        </p:nvSpPr>
        <p:spPr>
          <a:xfrm>
            <a:off x="837587" y="1899348"/>
            <a:ext cx="1377852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  <a:latin typeface="Avenir Book" panose="02000503020000020003" pitchFamily="2" charset="0"/>
              </a:rPr>
              <a:t>Trend</a:t>
            </a:r>
            <a:r>
              <a:rPr lang="en-US" sz="3200" dirty="0">
                <a:solidFill>
                  <a:schemeClr val="accent5"/>
                </a:solidFill>
                <a:latin typeface="Avenir Book" panose="02000503020000020003" pitchFamily="2" charset="0"/>
              </a:rPr>
              <a:t> - </a:t>
            </a:r>
            <a:r>
              <a:rPr lang="en-IN" sz="3000" dirty="0">
                <a:solidFill>
                  <a:schemeClr val="accent5"/>
                </a:solidFill>
                <a:latin typeface="Avenir Book" panose="02000503020000020003" pitchFamily="2" charset="0"/>
              </a:rPr>
              <a:t>Trend is a pattern in data that shows the movement of a series to relatively higher or lower values over a long period of time. In other words, a trend is observed when there is an increasing or decreasing slope in the time series.</a:t>
            </a:r>
            <a:endParaRPr lang="en-US" sz="3000" dirty="0">
              <a:solidFill>
                <a:schemeClr val="accent5"/>
              </a:solidFill>
              <a:latin typeface="Avenir Book" panose="02000503020000020003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7ACF63-B509-7049-AA0A-5F83991947A4}"/>
              </a:ext>
            </a:extLst>
          </p:cNvPr>
          <p:cNvGrpSpPr/>
          <p:nvPr/>
        </p:nvGrpSpPr>
        <p:grpSpPr>
          <a:xfrm>
            <a:off x="2983706" y="4236923"/>
            <a:ext cx="10803732" cy="3762547"/>
            <a:chOff x="2983706" y="4465523"/>
            <a:chExt cx="10803732" cy="376254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899AA7-676A-0343-800B-5A741E172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3706" y="4465523"/>
              <a:ext cx="4788694" cy="376254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B9792DF-5B29-5146-9184-E751A77F9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8744" y="4465524"/>
              <a:ext cx="4788694" cy="37625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2596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1D5725-1E15-5148-8855-48A10688DD18}"/>
              </a:ext>
            </a:extLst>
          </p:cNvPr>
          <p:cNvGrpSpPr/>
          <p:nvPr/>
        </p:nvGrpSpPr>
        <p:grpSpPr>
          <a:xfrm>
            <a:off x="728214" y="1064243"/>
            <a:ext cx="14818712" cy="6793882"/>
            <a:chOff x="728214" y="1064243"/>
            <a:chExt cx="14818712" cy="679388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328330-9FAA-2746-8F91-14AF7F751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214" y="1064243"/>
              <a:ext cx="14818712" cy="6793882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2002D8F-43A5-D441-97EB-750B127B7F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3063" y="2085975"/>
              <a:ext cx="12515850" cy="5114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EA3281-9AAE-D44E-B6EC-2EA08C3AB6C0}"/>
                </a:ext>
              </a:extLst>
            </p:cNvPr>
            <p:cNvSpPr/>
            <p:nvPr/>
          </p:nvSpPr>
          <p:spPr>
            <a:xfrm rot="20258115">
              <a:off x="5654371" y="4168796"/>
              <a:ext cx="268983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3200" b="1" dirty="0">
                  <a:solidFill>
                    <a:srgbClr val="C00000"/>
                  </a:solidFill>
                  <a:latin typeface="Avenir Book" panose="02000503020000020003" pitchFamily="2" charset="0"/>
                </a:rPr>
                <a:t>Upward trend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8387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BDE40C-431E-2D41-A02F-4A68461F75CE}"/>
              </a:ext>
            </a:extLst>
          </p:cNvPr>
          <p:cNvSpPr/>
          <p:nvPr/>
        </p:nvSpPr>
        <p:spPr>
          <a:xfrm>
            <a:off x="728214" y="1138453"/>
            <a:ext cx="1377852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  <a:latin typeface="Avenir Book" panose="02000503020000020003" pitchFamily="2" charset="0"/>
              </a:rPr>
              <a:t>Seasonality</a:t>
            </a:r>
            <a:r>
              <a:rPr lang="en-US" sz="3200" dirty="0">
                <a:solidFill>
                  <a:schemeClr val="accent5"/>
                </a:solidFill>
                <a:latin typeface="Avenir Book" panose="02000503020000020003" pitchFamily="2" charset="0"/>
              </a:rPr>
              <a:t> - </a:t>
            </a:r>
            <a:r>
              <a:rPr lang="en-IN" sz="3200" dirty="0">
                <a:solidFill>
                  <a:schemeClr val="accent5"/>
                </a:solidFill>
                <a:latin typeface="Avenir Book" panose="02000503020000020003" pitchFamily="2" charset="0"/>
              </a:rPr>
              <a:t>Seasonal variation, or seasonality, are cycles that repeat regularly over time.</a:t>
            </a:r>
            <a:endParaRPr lang="en-US" sz="3200" dirty="0">
              <a:solidFill>
                <a:schemeClr val="accent5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CCFAAD-ADF4-6A4F-9E84-D14AB8E89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357" y="2882571"/>
            <a:ext cx="9549607" cy="494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23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BDE40C-431E-2D41-A02F-4A68461F75CE}"/>
              </a:ext>
            </a:extLst>
          </p:cNvPr>
          <p:cNvSpPr/>
          <p:nvPr/>
        </p:nvSpPr>
        <p:spPr>
          <a:xfrm>
            <a:off x="728214" y="1034518"/>
            <a:ext cx="140642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  <a:latin typeface="Avenir Book" panose="02000503020000020003" pitchFamily="2" charset="0"/>
              </a:rPr>
              <a:t>Stationarity</a:t>
            </a:r>
            <a:r>
              <a:rPr lang="en-US" sz="2800" dirty="0">
                <a:solidFill>
                  <a:schemeClr val="accent5"/>
                </a:solidFill>
                <a:latin typeface="Avenir Book" panose="02000503020000020003" pitchFamily="2" charset="0"/>
              </a:rPr>
              <a:t> - </a:t>
            </a:r>
            <a:r>
              <a:rPr lang="en-IN" sz="2800" dirty="0">
                <a:solidFill>
                  <a:schemeClr val="accent5"/>
                </a:solidFill>
                <a:latin typeface="Avenir Book" panose="02000503020000020003" pitchFamily="2" charset="0"/>
              </a:rPr>
              <a:t>Stationary data refers to the time series data for which the mean and variance do not vary across time. The data is considered non-stationary if there is a strong trend or seasonality observed from the data. Stationarity is important because many useful analytical tools and statistical tests and </a:t>
            </a:r>
            <a:r>
              <a:rPr lang="en-IN" sz="2800" b="1" dirty="0">
                <a:solidFill>
                  <a:schemeClr val="accent5"/>
                </a:solidFill>
                <a:latin typeface="Avenir Book" panose="02000503020000020003" pitchFamily="2" charset="0"/>
              </a:rPr>
              <a:t>models rely on it.</a:t>
            </a:r>
            <a:endParaRPr lang="en-US" sz="2800" b="1" dirty="0">
              <a:solidFill>
                <a:schemeClr val="accent5"/>
              </a:solidFill>
              <a:latin typeface="Avenir Book" panose="02000503020000020003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CB5CAA7-FFBC-3842-9EB5-FB5EBA9205BD}"/>
              </a:ext>
            </a:extLst>
          </p:cNvPr>
          <p:cNvGrpSpPr/>
          <p:nvPr/>
        </p:nvGrpSpPr>
        <p:grpSpPr>
          <a:xfrm>
            <a:off x="1151912" y="3986213"/>
            <a:ext cx="13007001" cy="3806453"/>
            <a:chOff x="837587" y="3914775"/>
            <a:chExt cx="14278588" cy="417857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360FBC8-9F7A-4F4A-95BA-12F97F2D49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681" t="6076" r="55012" b="49219"/>
            <a:stretch/>
          </p:blipFill>
          <p:spPr>
            <a:xfrm>
              <a:off x="837587" y="3914775"/>
              <a:ext cx="4257893" cy="306860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FB54FDC-C64D-314A-8730-6EADDD0E46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3278" t="6076" r="1669" b="50314"/>
            <a:stretch/>
          </p:blipFill>
          <p:spPr>
            <a:xfrm>
              <a:off x="5692861" y="3914775"/>
              <a:ext cx="4598595" cy="310780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78D5DEF-0074-A742-865D-0BE40FF0C6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5715" t="50781" r="18905"/>
            <a:stretch/>
          </p:blipFill>
          <p:spPr>
            <a:xfrm>
              <a:off x="11007061" y="3914775"/>
              <a:ext cx="4109113" cy="3111467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8235578-7021-B64F-97E9-AB42ED115D04}"/>
                </a:ext>
              </a:extLst>
            </p:cNvPr>
            <p:cNvSpPr/>
            <p:nvPr/>
          </p:nvSpPr>
          <p:spPr>
            <a:xfrm>
              <a:off x="1081719" y="7181116"/>
              <a:ext cx="3637535" cy="9122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accent5"/>
                  </a:solidFill>
                  <a:latin typeface="Avenir Book" panose="02000503020000020003" pitchFamily="2" charset="0"/>
                </a:rPr>
                <a:t>stationary mean</a:t>
              </a:r>
            </a:p>
            <a:p>
              <a:pPr algn="ctr"/>
              <a:r>
                <a:rPr lang="en-IN" sz="2400" b="1" dirty="0">
                  <a:solidFill>
                    <a:schemeClr val="accent5"/>
                  </a:solidFill>
                  <a:latin typeface="Avenir Book" panose="02000503020000020003" pitchFamily="2" charset="0"/>
                </a:rPr>
                <a:t>stationary variance</a:t>
              </a:r>
              <a:endParaRPr lang="en-US" sz="2400" b="1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71CFD0-0A11-B848-91C5-939EF2FE4362}"/>
                </a:ext>
              </a:extLst>
            </p:cNvPr>
            <p:cNvSpPr/>
            <p:nvPr/>
          </p:nvSpPr>
          <p:spPr>
            <a:xfrm>
              <a:off x="11007890" y="7174844"/>
              <a:ext cx="4108285" cy="9122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accent5"/>
                  </a:solidFill>
                  <a:latin typeface="Avenir Book" panose="02000503020000020003" pitchFamily="2" charset="0"/>
                </a:rPr>
                <a:t>stationary mean</a:t>
              </a:r>
            </a:p>
            <a:p>
              <a:pPr algn="ctr"/>
              <a:r>
                <a:rPr lang="en-IN" sz="2400" b="1" dirty="0">
                  <a:solidFill>
                    <a:schemeClr val="accent5"/>
                  </a:solidFill>
                  <a:latin typeface="Avenir Book" panose="02000503020000020003" pitchFamily="2" charset="0"/>
                </a:rPr>
                <a:t>non- stationary variance</a:t>
              </a:r>
              <a:endParaRPr lang="en-US" sz="2400" b="1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EB4D30-6C81-9843-99D9-FBDB4DD66C89}"/>
                </a:ext>
              </a:extLst>
            </p:cNvPr>
            <p:cNvSpPr/>
            <p:nvPr/>
          </p:nvSpPr>
          <p:spPr>
            <a:xfrm>
              <a:off x="6173391" y="7174844"/>
              <a:ext cx="3637535" cy="9122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accent5"/>
                  </a:solidFill>
                  <a:latin typeface="Avenir Book" panose="02000503020000020003" pitchFamily="2" charset="0"/>
                </a:rPr>
                <a:t>non-stationary mean</a:t>
              </a:r>
            </a:p>
            <a:p>
              <a:pPr algn="ctr"/>
              <a:r>
                <a:rPr lang="en-IN" sz="2400" b="1" dirty="0">
                  <a:solidFill>
                    <a:schemeClr val="accent5"/>
                  </a:solidFill>
                  <a:latin typeface="Avenir Book" panose="02000503020000020003" pitchFamily="2" charset="0"/>
                </a:rPr>
                <a:t>stationary variance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0037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438756-2947-9F47-85A9-D1CE565931BA}"/>
              </a:ext>
            </a:extLst>
          </p:cNvPr>
          <p:cNvGrpSpPr/>
          <p:nvPr/>
        </p:nvGrpSpPr>
        <p:grpSpPr>
          <a:xfrm>
            <a:off x="1165225" y="2614611"/>
            <a:ext cx="13687424" cy="5029261"/>
            <a:chOff x="1000125" y="2328861"/>
            <a:chExt cx="13687424" cy="502926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A38CE37-1EB4-BE43-BDA9-9AD9094E5D9D}"/>
                </a:ext>
              </a:extLst>
            </p:cNvPr>
            <p:cNvGrpSpPr/>
            <p:nvPr/>
          </p:nvGrpSpPr>
          <p:grpSpPr>
            <a:xfrm>
              <a:off x="1000125" y="2371725"/>
              <a:ext cx="6271776" cy="4986397"/>
              <a:chOff x="1000125" y="2371725"/>
              <a:chExt cx="6271776" cy="4986397"/>
            </a:xfrm>
          </p:grpSpPr>
          <p:pic>
            <p:nvPicPr>
              <p:cNvPr id="12" name="Picture 4">
                <a:extLst>
                  <a:ext uri="{FF2B5EF4-FFF2-40B4-BE49-F238E27FC236}">
                    <a16:creationId xmlns:a16="http://schemas.microsoft.com/office/drawing/2014/main" id="{313FDDC1-905B-9548-BB90-26CDD1914E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87" t="3850" r="4493"/>
              <a:stretch/>
            </p:blipFill>
            <p:spPr bwMode="auto">
              <a:xfrm>
                <a:off x="1000125" y="2371725"/>
                <a:ext cx="6271776" cy="4400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DE8583-F853-4E4F-A65F-BC850FAC7FC8}"/>
                  </a:ext>
                </a:extLst>
              </p:cNvPr>
              <p:cNvSpPr txBox="1"/>
              <p:nvPr/>
            </p:nvSpPr>
            <p:spPr>
              <a:xfrm>
                <a:off x="1468925" y="6958012"/>
                <a:ext cx="56933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Avenir Light" panose="020B0402020203020204" pitchFamily="34" charset="77"/>
                  </a:rPr>
                  <a:t>Monthly accidental deaths data – Non stationary</a:t>
                </a:r>
              </a:p>
            </p:txBody>
          </p:sp>
        </p:grpSp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0E863BF5-3AFC-1C4A-8991-749096C481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85" t="4545" r="4365" b="4844"/>
            <a:stretch/>
          </p:blipFill>
          <p:spPr>
            <a:xfrm>
              <a:off x="8458202" y="2328861"/>
              <a:ext cx="6229347" cy="4300539"/>
            </a:xfrm>
            <a:prstGeom prst="rect">
              <a:avLst/>
            </a:prstGeom>
            <a:noFill/>
            <a:ln/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9616A0-53EF-C64B-B803-F1E249140B5A}"/>
                </a:ext>
              </a:extLst>
            </p:cNvPr>
            <p:cNvSpPr txBox="1"/>
            <p:nvPr/>
          </p:nvSpPr>
          <p:spPr>
            <a:xfrm>
              <a:off x="11165374" y="6958012"/>
              <a:ext cx="12909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venir Light" panose="020B0402020203020204" pitchFamily="34" charset="77"/>
                </a:rPr>
                <a:t>stationary</a:t>
              </a:r>
            </a:p>
          </p:txBody>
        </p:sp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1AD50051-E615-DE4E-A79C-F10C51535AA0}"/>
              </a:ext>
            </a:extLst>
          </p:cNvPr>
          <p:cNvSpPr txBox="1">
            <a:spLocks noChangeArrowheads="1"/>
          </p:cNvSpPr>
          <p:nvPr/>
        </p:nvSpPr>
        <p:spPr>
          <a:xfrm>
            <a:off x="1165225" y="342901"/>
            <a:ext cx="11864975" cy="1462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78158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1" kern="1200" baseline="0">
                <a:solidFill>
                  <a:srgbClr val="00673E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latin typeface="Avenir Book" panose="02000503020000020003" pitchFamily="2" charset="0"/>
                <a:cs typeface="Calibri" panose="020F0502020204030204" pitchFamily="34" charset="0"/>
              </a:rPr>
              <a:t>Converting Nonstationary Time Series to Stationary Time Series</a:t>
            </a:r>
            <a:endParaRPr lang="en-US" altLang="en-US" dirty="0">
              <a:latin typeface="Avenir Book" panose="02000503020000020003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972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741345"/>
            <a:ext cx="9106513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Identify Trend and Seasonality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C7E9BCC-5FD6-2246-AB7A-6E73D1379266}"/>
              </a:ext>
            </a:extLst>
          </p:cNvPr>
          <p:cNvGrpSpPr/>
          <p:nvPr/>
        </p:nvGrpSpPr>
        <p:grpSpPr>
          <a:xfrm>
            <a:off x="11220426" y="3655164"/>
            <a:ext cx="3475820" cy="1938992"/>
            <a:chOff x="10718402" y="3493800"/>
            <a:chExt cx="3475820" cy="193899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B4D137E-5701-1141-A619-E0BB114CC440}"/>
                </a:ext>
              </a:extLst>
            </p:cNvPr>
            <p:cNvSpPr/>
            <p:nvPr/>
          </p:nvSpPr>
          <p:spPr>
            <a:xfrm>
              <a:off x="11435133" y="3493800"/>
              <a:ext cx="2759089" cy="19389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4000" dirty="0">
                  <a:solidFill>
                    <a:schemeClr val="accent5"/>
                  </a:solidFill>
                  <a:latin typeface="Avenir Book" panose="02000503020000020003" pitchFamily="2" charset="0"/>
                </a:rPr>
                <a:t>Trend</a:t>
              </a:r>
            </a:p>
            <a:p>
              <a:endParaRPr lang="en-IN" sz="4000" dirty="0">
                <a:solidFill>
                  <a:schemeClr val="accent5"/>
                </a:solidFill>
                <a:latin typeface="Avenir Book" panose="02000503020000020003" pitchFamily="2" charset="0"/>
              </a:endParaRPr>
            </a:p>
            <a:p>
              <a:r>
                <a:rPr lang="en-IN" sz="4000" dirty="0">
                  <a:solidFill>
                    <a:schemeClr val="accent5"/>
                  </a:solidFill>
                  <a:latin typeface="Avenir Book" panose="02000503020000020003" pitchFamily="2" charset="0"/>
                </a:rPr>
                <a:t>Seasonality</a:t>
              </a:r>
              <a:endParaRPr lang="en-US" sz="3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F738CA0-DEAF-9347-B8A2-D097FF948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18402" y="3493800"/>
              <a:ext cx="623094" cy="62309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9548E5-2310-E542-9E72-11ACDF138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18402" y="4714557"/>
              <a:ext cx="623094" cy="623094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38432F7-29D2-254B-A2CB-1D3A8A5D4978}"/>
              </a:ext>
            </a:extLst>
          </p:cNvPr>
          <p:cNvGrpSpPr/>
          <p:nvPr/>
        </p:nvGrpSpPr>
        <p:grpSpPr>
          <a:xfrm>
            <a:off x="728214" y="2135671"/>
            <a:ext cx="10168038" cy="4977977"/>
            <a:chOff x="434521" y="2135671"/>
            <a:chExt cx="10168038" cy="497797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D9897D2-FA2B-9048-B68F-29D0EE9EA9D0}"/>
                </a:ext>
              </a:extLst>
            </p:cNvPr>
            <p:cNvGrpSpPr/>
            <p:nvPr/>
          </p:nvGrpSpPr>
          <p:grpSpPr>
            <a:xfrm>
              <a:off x="728214" y="2135671"/>
              <a:ext cx="9874345" cy="4977977"/>
              <a:chOff x="423413" y="2325854"/>
              <a:chExt cx="9874345" cy="4977977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0C0B932-2A46-4C44-AB9C-84D5212EA7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29487" b="40980"/>
              <a:stretch/>
            </p:blipFill>
            <p:spPr>
              <a:xfrm>
                <a:off x="423413" y="2325854"/>
                <a:ext cx="9874345" cy="4793311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FB1132E-B929-934F-8368-002B17BE9B92}"/>
                  </a:ext>
                </a:extLst>
              </p:cNvPr>
              <p:cNvSpPr txBox="1"/>
              <p:nvPr/>
            </p:nvSpPr>
            <p:spPr>
              <a:xfrm>
                <a:off x="1225786" y="6934499"/>
                <a:ext cx="7821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Avenir Light" panose="020B0402020203020204" pitchFamily="34" charset="77"/>
                  </a:rPr>
                  <a:t>1960             1970                 1980                1990               2000              2010 </a:t>
                </a:r>
                <a:endParaRPr lang="en-US" b="1" dirty="0">
                  <a:latin typeface="Avenir Light" panose="020B0402020203020204" pitchFamily="34" charset="77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25C88B2-C475-C640-A87A-45972034455C}"/>
                  </a:ext>
                </a:extLst>
              </p:cNvPr>
              <p:cNvSpPr/>
              <p:nvPr/>
            </p:nvSpPr>
            <p:spPr>
              <a:xfrm>
                <a:off x="530995" y="2583462"/>
                <a:ext cx="360996" cy="4278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="1" dirty="0">
                    <a:latin typeface="Avenir Light" panose="020B0402020203020204" pitchFamily="34" charset="77"/>
                  </a:rPr>
                  <a:t>5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4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3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2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1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0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-1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-2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-3</a:t>
                </a:r>
                <a:endParaRPr lang="en-US" sz="2800" dirty="0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D608B5F-D1D7-5346-948E-4F3F984E1A2E}"/>
                </a:ext>
              </a:extLst>
            </p:cNvPr>
            <p:cNvSpPr/>
            <p:nvPr/>
          </p:nvSpPr>
          <p:spPr>
            <a:xfrm rot="16200000">
              <a:off x="-240824" y="4266465"/>
              <a:ext cx="17508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>
                  <a:latin typeface="Avenir Light" panose="020B0402020203020204" pitchFamily="34" charset="77"/>
                </a:rPr>
                <a:t>Price in $1000</a:t>
              </a:r>
              <a:endParaRPr lang="en-US" sz="2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0B96B7-16FA-9B40-A31F-85D96F763ADB}"/>
                </a:ext>
              </a:extLst>
            </p:cNvPr>
            <p:cNvSpPr/>
            <p:nvPr/>
          </p:nvSpPr>
          <p:spPr>
            <a:xfrm>
              <a:off x="9834727" y="6586264"/>
              <a:ext cx="76174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latin typeface="Avenir Light" panose="020B0402020203020204" pitchFamily="34" charset="77"/>
                </a:rPr>
                <a:t>year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6782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741345"/>
            <a:ext cx="9106513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Identify Trend and Seasonality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3ECF7B-1574-9346-ABE8-F4B07FEE1F1B}"/>
              </a:ext>
            </a:extLst>
          </p:cNvPr>
          <p:cNvGrpSpPr/>
          <p:nvPr/>
        </p:nvGrpSpPr>
        <p:grpSpPr>
          <a:xfrm>
            <a:off x="481340" y="1923666"/>
            <a:ext cx="10810768" cy="5291242"/>
            <a:chOff x="481340" y="1923666"/>
            <a:chExt cx="10810768" cy="529124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DE27741-7F65-124C-9F52-1998DAE9AAE6}"/>
                </a:ext>
              </a:extLst>
            </p:cNvPr>
            <p:cNvGrpSpPr/>
            <p:nvPr/>
          </p:nvGrpSpPr>
          <p:grpSpPr>
            <a:xfrm>
              <a:off x="928268" y="1923666"/>
              <a:ext cx="10363840" cy="5291242"/>
              <a:chOff x="1124309" y="1404388"/>
              <a:chExt cx="9555750" cy="4878673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BB496C3-8FEF-7842-9DF5-0A6C1B2E795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70000"/>
              <a:stretch/>
            </p:blipFill>
            <p:spPr>
              <a:xfrm>
                <a:off x="1124309" y="1404388"/>
                <a:ext cx="9555750" cy="4712003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6D0946-241E-DF4F-9123-CDD8BCBAD7AC}"/>
                  </a:ext>
                </a:extLst>
              </p:cNvPr>
              <p:cNvSpPr txBox="1"/>
              <p:nvPr/>
            </p:nvSpPr>
            <p:spPr>
              <a:xfrm>
                <a:off x="1745739" y="5913729"/>
                <a:ext cx="7821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Avenir Light" panose="020B0402020203020204" pitchFamily="34" charset="77"/>
                  </a:rPr>
                  <a:t>1960             1970                 1980                1990               2000              2010 </a:t>
                </a:r>
                <a:endParaRPr lang="en-US" b="1" dirty="0">
                  <a:latin typeface="Avenir Light" panose="020B0402020203020204" pitchFamily="34" charset="77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24EECC3-3086-BC49-AABF-BD0A493BD617}"/>
                  </a:ext>
                </a:extLst>
              </p:cNvPr>
              <p:cNvSpPr/>
              <p:nvPr/>
            </p:nvSpPr>
            <p:spPr>
              <a:xfrm>
                <a:off x="1128410" y="1621342"/>
                <a:ext cx="360996" cy="4278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="1" dirty="0">
                    <a:latin typeface="Avenir Light" panose="020B0402020203020204" pitchFamily="34" charset="77"/>
                  </a:rPr>
                  <a:t>5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4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3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2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1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0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-1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-2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-3</a:t>
                </a:r>
                <a:endParaRPr lang="en-US" sz="2800" dirty="0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93CDB3-DB5B-5A45-AFA2-145F52C6AF1A}"/>
                </a:ext>
              </a:extLst>
            </p:cNvPr>
            <p:cNvSpPr/>
            <p:nvPr/>
          </p:nvSpPr>
          <p:spPr>
            <a:xfrm rot="16200000">
              <a:off x="-194005" y="4278849"/>
              <a:ext cx="17508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>
                  <a:latin typeface="Avenir Light" panose="020B0402020203020204" pitchFamily="34" charset="77"/>
                </a:rPr>
                <a:t>Price in $1000</a:t>
              </a:r>
              <a:endParaRPr lang="en-US" sz="2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0E686E-31D4-6E46-B2A4-31C0852329D2}"/>
                </a:ext>
              </a:extLst>
            </p:cNvPr>
            <p:cNvSpPr/>
            <p:nvPr/>
          </p:nvSpPr>
          <p:spPr>
            <a:xfrm>
              <a:off x="10307702" y="6662860"/>
              <a:ext cx="76174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latin typeface="Avenir Light" panose="020B0402020203020204" pitchFamily="34" charset="77"/>
                </a:rPr>
                <a:t>year</a:t>
              </a:r>
              <a:endParaRPr lang="en-US" sz="2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8BD26B-FC8C-BB44-B3CE-F07A028C8F47}"/>
              </a:ext>
            </a:extLst>
          </p:cNvPr>
          <p:cNvGrpSpPr/>
          <p:nvPr/>
        </p:nvGrpSpPr>
        <p:grpSpPr>
          <a:xfrm>
            <a:off x="11180291" y="3702138"/>
            <a:ext cx="3512314" cy="2040742"/>
            <a:chOff x="10696196" y="3643311"/>
            <a:chExt cx="3512314" cy="204074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D26E2B-81C7-9545-8924-6EE68A4C18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408" t="10230" r="6043" b="9790"/>
            <a:stretch/>
          </p:blipFill>
          <p:spPr>
            <a:xfrm>
              <a:off x="10696196" y="3643311"/>
              <a:ext cx="753225" cy="680333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C7E9BCC-5FD6-2246-AB7A-6E73D1379266}"/>
                </a:ext>
              </a:extLst>
            </p:cNvPr>
            <p:cNvGrpSpPr/>
            <p:nvPr/>
          </p:nvGrpSpPr>
          <p:grpSpPr>
            <a:xfrm>
              <a:off x="10732690" y="3745061"/>
              <a:ext cx="3475820" cy="1938992"/>
              <a:chOff x="10718402" y="3493800"/>
              <a:chExt cx="3475820" cy="193899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D137E-5701-1141-A619-E0BB114CC440}"/>
                  </a:ext>
                </a:extLst>
              </p:cNvPr>
              <p:cNvSpPr/>
              <p:nvPr/>
            </p:nvSpPr>
            <p:spPr>
              <a:xfrm>
                <a:off x="11435133" y="3493800"/>
                <a:ext cx="2759089" cy="19389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4000" dirty="0">
                    <a:solidFill>
                      <a:schemeClr val="accent5"/>
                    </a:solidFill>
                    <a:latin typeface="Avenir Book" panose="02000503020000020003" pitchFamily="2" charset="0"/>
                  </a:rPr>
                  <a:t>Trend</a:t>
                </a:r>
              </a:p>
              <a:p>
                <a:endParaRPr lang="en-IN" sz="4000" dirty="0">
                  <a:solidFill>
                    <a:schemeClr val="accent5"/>
                  </a:solidFill>
                  <a:latin typeface="Avenir Book" panose="02000503020000020003" pitchFamily="2" charset="0"/>
                </a:endParaRPr>
              </a:p>
              <a:p>
                <a:r>
                  <a:rPr lang="en-IN" sz="4000" dirty="0">
                    <a:solidFill>
                      <a:schemeClr val="accent5"/>
                    </a:solidFill>
                    <a:latin typeface="Avenir Book" panose="02000503020000020003" pitchFamily="2" charset="0"/>
                  </a:rPr>
                  <a:t>Seasonality</a:t>
                </a:r>
                <a:endParaRPr lang="en-US" sz="3600" dirty="0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49548E5-2310-E542-9E72-11ACDF1380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18402" y="4714557"/>
                <a:ext cx="623094" cy="62309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7928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AA7396D-6826-F64B-BBF7-ED25A7093B5D}"/>
              </a:ext>
            </a:extLst>
          </p:cNvPr>
          <p:cNvGrpSpPr/>
          <p:nvPr/>
        </p:nvGrpSpPr>
        <p:grpSpPr>
          <a:xfrm>
            <a:off x="575309" y="2008823"/>
            <a:ext cx="10730487" cy="5038164"/>
            <a:chOff x="575309" y="2008823"/>
            <a:chExt cx="10730487" cy="503816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5D231FF-DD2F-DB49-9FE0-15F85C969B59}"/>
                </a:ext>
              </a:extLst>
            </p:cNvPr>
            <p:cNvGrpSpPr/>
            <p:nvPr/>
          </p:nvGrpSpPr>
          <p:grpSpPr>
            <a:xfrm>
              <a:off x="1065064" y="2008823"/>
              <a:ext cx="10240732" cy="5038164"/>
              <a:chOff x="548924" y="1972236"/>
              <a:chExt cx="10240732" cy="503816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D97322F-3B6B-4C4B-8F0F-E76480289D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791" t="59514" b="11176"/>
              <a:stretch/>
            </p:blipFill>
            <p:spPr>
              <a:xfrm>
                <a:off x="728214" y="1972236"/>
                <a:ext cx="10061442" cy="5038164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39EA57-1FC6-EC4F-8A74-00AEF9C84022}"/>
                  </a:ext>
                </a:extLst>
              </p:cNvPr>
              <p:cNvSpPr txBox="1"/>
              <p:nvPr/>
            </p:nvSpPr>
            <p:spPr>
              <a:xfrm>
                <a:off x="2013355" y="6641067"/>
                <a:ext cx="85571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Avenir Light" panose="020B0402020203020204" pitchFamily="34" charset="77"/>
                  </a:rPr>
                  <a:t>1960                     1970                   1980                     1990                    2000              </a:t>
                </a:r>
                <a:endParaRPr lang="en-US" b="1" dirty="0">
                  <a:latin typeface="Avenir Light" panose="020B0402020203020204" pitchFamily="34" charset="77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D0B6131-65E8-2940-A70F-9A6E358341A4}"/>
                  </a:ext>
                </a:extLst>
              </p:cNvPr>
              <p:cNvSpPr/>
              <p:nvPr/>
            </p:nvSpPr>
            <p:spPr>
              <a:xfrm>
                <a:off x="548924" y="2117302"/>
                <a:ext cx="360996" cy="45243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="1" dirty="0">
                    <a:latin typeface="Avenir Light" panose="020B0402020203020204" pitchFamily="34" charset="77"/>
                  </a:rPr>
                  <a:t>4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3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2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1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0</a:t>
                </a: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endParaRPr lang="en-US" sz="1600" b="1" dirty="0">
                  <a:latin typeface="Avenir Light" panose="020B0402020203020204" pitchFamily="34" charset="77"/>
                </a:endParaRPr>
              </a:p>
              <a:p>
                <a:r>
                  <a:rPr lang="en-US" sz="1600" b="1" dirty="0">
                    <a:latin typeface="Avenir Light" panose="020B0402020203020204" pitchFamily="34" charset="77"/>
                  </a:rPr>
                  <a:t>-1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344CC42-52D4-164D-81E2-D5FA6FE2DE06}"/>
                </a:ext>
              </a:extLst>
            </p:cNvPr>
            <p:cNvSpPr/>
            <p:nvPr/>
          </p:nvSpPr>
          <p:spPr>
            <a:xfrm rot="16200000">
              <a:off x="-100036" y="4323218"/>
              <a:ext cx="17508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>
                  <a:latin typeface="Avenir Light" panose="020B0402020203020204" pitchFamily="34" charset="77"/>
                </a:rPr>
                <a:t>Price in $1000</a:t>
              </a:r>
              <a:endParaRPr lang="en-US" sz="20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D51034-B702-504A-9401-2B317E611DE5}"/>
                </a:ext>
              </a:extLst>
            </p:cNvPr>
            <p:cNvSpPr/>
            <p:nvPr/>
          </p:nvSpPr>
          <p:spPr>
            <a:xfrm>
              <a:off x="10434474" y="6585321"/>
              <a:ext cx="76174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latin typeface="Avenir Light" panose="020B0402020203020204" pitchFamily="34" charset="77"/>
                </a:rPr>
                <a:t>year</a:t>
              </a:r>
              <a:endParaRPr lang="en-US" sz="2400" dirty="0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741345"/>
            <a:ext cx="9106513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Identify Trend and Seasonality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5E5976-FF12-9F4D-A7E7-F161DBF0042B}"/>
              </a:ext>
            </a:extLst>
          </p:cNvPr>
          <p:cNvGrpSpPr/>
          <p:nvPr/>
        </p:nvGrpSpPr>
        <p:grpSpPr>
          <a:xfrm>
            <a:off x="11500493" y="3517190"/>
            <a:ext cx="3512314" cy="2012166"/>
            <a:chOff x="10696196" y="3643311"/>
            <a:chExt cx="3512314" cy="201216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D26E2B-81C7-9545-8924-6EE68A4C18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408" t="10230" r="6043" b="9790"/>
            <a:stretch/>
          </p:blipFill>
          <p:spPr>
            <a:xfrm>
              <a:off x="10696196" y="3643311"/>
              <a:ext cx="753225" cy="68033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B4D137E-5701-1141-A619-E0BB114CC440}"/>
                </a:ext>
              </a:extLst>
            </p:cNvPr>
            <p:cNvSpPr/>
            <p:nvPr/>
          </p:nvSpPr>
          <p:spPr>
            <a:xfrm>
              <a:off x="11449421" y="3716485"/>
              <a:ext cx="2759089" cy="19389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4000" dirty="0">
                  <a:solidFill>
                    <a:schemeClr val="accent5"/>
                  </a:solidFill>
                  <a:latin typeface="Avenir Book" panose="02000503020000020003" pitchFamily="2" charset="0"/>
                </a:rPr>
                <a:t>Trend</a:t>
              </a:r>
            </a:p>
            <a:p>
              <a:endParaRPr lang="en-IN" sz="4000" dirty="0">
                <a:solidFill>
                  <a:schemeClr val="accent5"/>
                </a:solidFill>
                <a:latin typeface="Avenir Book" panose="02000503020000020003" pitchFamily="2" charset="0"/>
              </a:endParaRPr>
            </a:p>
            <a:p>
              <a:r>
                <a:rPr lang="en-IN" sz="4000" dirty="0">
                  <a:solidFill>
                    <a:schemeClr val="accent5"/>
                  </a:solidFill>
                  <a:latin typeface="Avenir Book" panose="02000503020000020003" pitchFamily="2" charset="0"/>
                </a:rPr>
                <a:t>Seasonality</a:t>
              </a:r>
              <a:endParaRPr lang="en-US" sz="3600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DDE8F07-8EB7-4742-8D35-50AA9CF78E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408" t="10230" r="6043" b="9790"/>
            <a:stretch/>
          </p:blipFill>
          <p:spPr>
            <a:xfrm>
              <a:off x="10696196" y="4882798"/>
              <a:ext cx="753225" cy="680333"/>
            </a:xfrm>
            <a:prstGeom prst="rect">
              <a:avLst/>
            </a:prstGeom>
          </p:spPr>
        </p:pic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95150E5-B4C4-F840-91CA-D70BBD35D961}"/>
              </a:ext>
            </a:extLst>
          </p:cNvPr>
          <p:cNvSpPr/>
          <p:nvPr/>
        </p:nvSpPr>
        <p:spPr>
          <a:xfrm>
            <a:off x="3134566" y="4346759"/>
            <a:ext cx="1300163" cy="174306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2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0019F56-CB2F-474B-AAA7-E6D226D6C40F}"/>
              </a:ext>
            </a:extLst>
          </p:cNvPr>
          <p:cNvSpPr/>
          <p:nvPr/>
        </p:nvSpPr>
        <p:spPr>
          <a:xfrm>
            <a:off x="8259856" y="2849264"/>
            <a:ext cx="1289237" cy="167864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2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60" y="1012807"/>
            <a:ext cx="11906863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Time Series Forecasting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8D1E44-FBDE-F140-B47B-D8E3A6B52F78}"/>
              </a:ext>
            </a:extLst>
          </p:cNvPr>
          <p:cNvSpPr/>
          <p:nvPr/>
        </p:nvSpPr>
        <p:spPr>
          <a:xfrm>
            <a:off x="980460" y="2503487"/>
            <a:ext cx="1372137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5"/>
                </a:solidFill>
                <a:latin typeface="Avenir Book" panose="02000503020000020003" pitchFamily="2" charset="0"/>
              </a:rPr>
              <a:t>Below are some types of time series forecasting:</a:t>
            </a:r>
          </a:p>
          <a:p>
            <a:endParaRPr lang="en-IN" sz="3600" dirty="0">
              <a:solidFill>
                <a:schemeClr val="accent5"/>
              </a:solidFill>
              <a:latin typeface="Avenir Book" panose="02000503020000020003" pitchFamily="2" charset="0"/>
            </a:endParaRPr>
          </a:p>
          <a:p>
            <a:r>
              <a:rPr lang="en-IN" sz="3600" dirty="0">
                <a:solidFill>
                  <a:schemeClr val="accent5"/>
                </a:solidFill>
                <a:latin typeface="Avenir Book" panose="02000503020000020003" pitchFamily="2" charset="0"/>
              </a:rPr>
              <a:t>1. Point and Interval </a:t>
            </a:r>
          </a:p>
          <a:p>
            <a:endParaRPr lang="en-IN" sz="3600" dirty="0">
              <a:solidFill>
                <a:schemeClr val="accent5"/>
              </a:solidFill>
              <a:latin typeface="Avenir Book" panose="02000503020000020003" pitchFamily="2" charset="0"/>
            </a:endParaRPr>
          </a:p>
          <a:p>
            <a:r>
              <a:rPr lang="en-IN" sz="3600" dirty="0">
                <a:solidFill>
                  <a:schemeClr val="accent5"/>
                </a:solidFill>
                <a:latin typeface="Avenir Book" panose="02000503020000020003" pitchFamily="2" charset="0"/>
              </a:rPr>
              <a:t>2. Ex-post (in sample) and Ex-ante (out of sample)</a:t>
            </a:r>
          </a:p>
          <a:p>
            <a:endParaRPr lang="en-IN" sz="3600" dirty="0">
              <a:solidFill>
                <a:schemeClr val="accent5"/>
              </a:solidFill>
              <a:latin typeface="Avenir Book" panose="02000503020000020003" pitchFamily="2" charset="0"/>
            </a:endParaRPr>
          </a:p>
          <a:p>
            <a:r>
              <a:rPr lang="en-IN" sz="3600" dirty="0">
                <a:solidFill>
                  <a:schemeClr val="accent5"/>
                </a:solidFill>
                <a:latin typeface="Avenir Book" panose="02000503020000020003" pitchFamily="2" charset="0"/>
              </a:rPr>
              <a:t>3. Conditional (exogenous) and Unconditional</a:t>
            </a:r>
          </a:p>
        </p:txBody>
      </p:sp>
    </p:spTree>
    <p:extLst>
      <p:ext uri="{BB962C8B-B14F-4D97-AF65-F5344CB8AC3E}">
        <p14:creationId xmlns:p14="http://schemas.microsoft.com/office/powerpoint/2010/main" val="1925849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8488" y="595674"/>
            <a:ext cx="6264888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How do you Forecast?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DD572-6FC0-4447-99C8-EACD762CC4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544" b="68438"/>
          <a:stretch/>
        </p:blipFill>
        <p:spPr>
          <a:xfrm>
            <a:off x="966174" y="595674"/>
            <a:ext cx="4791605" cy="3343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C5B725-5EDE-814F-A76B-EDC44295C1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594" r="28083" b="33906"/>
          <a:stretch/>
        </p:blipFill>
        <p:spPr>
          <a:xfrm>
            <a:off x="966174" y="4707732"/>
            <a:ext cx="4891914" cy="3443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5847B2-AC95-1B4E-A9BA-4BE75D2922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250"/>
          <a:stretch/>
        </p:blipFill>
        <p:spPr>
          <a:xfrm>
            <a:off x="7737282" y="3938949"/>
            <a:ext cx="7836094" cy="4119197"/>
          </a:xfrm>
          <a:prstGeom prst="rect">
            <a:avLst/>
          </a:prstGeom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B531B6EE-88B9-644A-A732-0B6023D0C525}"/>
              </a:ext>
            </a:extLst>
          </p:cNvPr>
          <p:cNvSpPr/>
          <p:nvPr/>
        </p:nvSpPr>
        <p:spPr>
          <a:xfrm>
            <a:off x="3090662" y="4080453"/>
            <a:ext cx="642938" cy="48577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C924539C-4C22-CA4A-A0B1-74091A3FC765}"/>
              </a:ext>
            </a:extLst>
          </p:cNvPr>
          <p:cNvSpPr/>
          <p:nvPr/>
        </p:nvSpPr>
        <p:spPr>
          <a:xfrm>
            <a:off x="6490503" y="5829300"/>
            <a:ext cx="614363" cy="60007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74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B9AD6-0EF7-B043-A1F2-00C84EB95D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40BD5E71-9381-BF49-B803-B8AEE44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61" y="1298557"/>
            <a:ext cx="9006501" cy="694591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  <a:cs typeface="Calibri" panose="020F0502020204030204" pitchFamily="34" charset="0"/>
              </a:rPr>
              <a:t>Applications of Time Series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1BE6E-4EC2-3142-AF79-C8D8102DF362}"/>
              </a:ext>
            </a:extLst>
          </p:cNvPr>
          <p:cNvSpPr/>
          <p:nvPr/>
        </p:nvSpPr>
        <p:spPr>
          <a:xfrm>
            <a:off x="980461" y="2915531"/>
            <a:ext cx="13849963" cy="3344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accent5"/>
                </a:solidFill>
                <a:latin typeface="Avenir Book" panose="02000503020000020003" pitchFamily="2" charset="0"/>
              </a:rPr>
              <a:t>Economics – Imports and exports, Stock price forecasting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accent5"/>
                </a:solidFill>
                <a:latin typeface="Avenir Book" panose="02000503020000020003" pitchFamily="2" charset="0"/>
              </a:rPr>
              <a:t>Meteorology – Daily rainfall, temperature, wind speed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accent5"/>
                </a:solidFill>
                <a:latin typeface="Avenir Book" panose="02000503020000020003" pitchFamily="2" charset="0"/>
              </a:rPr>
              <a:t>Demography – Census of a country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accent5"/>
                </a:solidFill>
                <a:latin typeface="Avenir Book" panose="02000503020000020003" pitchFamily="2" charset="0"/>
              </a:rPr>
              <a:t>Marketing – Product sales</a:t>
            </a:r>
          </a:p>
        </p:txBody>
      </p:sp>
    </p:spTree>
    <p:extLst>
      <p:ext uri="{BB962C8B-B14F-4D97-AF65-F5344CB8AC3E}">
        <p14:creationId xmlns:p14="http://schemas.microsoft.com/office/powerpoint/2010/main" val="1606836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4754" y="3679485"/>
            <a:ext cx="4234606" cy="1185123"/>
          </a:xfrm>
        </p:spPr>
        <p:txBody>
          <a:bodyPr>
            <a:normAutofit/>
          </a:bodyPr>
          <a:lstStyle/>
          <a:p>
            <a:r>
              <a:rPr lang="en-US" dirty="0">
                <a:latin typeface="Avenir Medium" panose="02000503020000020003" pitchFamily="2" charset="0"/>
                <a:cs typeface="Calibri" panose="020F05020202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71418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19336</TotalTime>
  <Words>639</Words>
  <Application>Microsoft Office PowerPoint</Application>
  <PresentationFormat>Custom</PresentationFormat>
  <Paragraphs>205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Avenir Book</vt:lpstr>
      <vt:lpstr>Avenir Light</vt:lpstr>
      <vt:lpstr>Avenir Medium</vt:lpstr>
      <vt:lpstr>Avenir Roman</vt:lpstr>
      <vt:lpstr>Calibri</vt:lpstr>
      <vt:lpstr>Wingdings</vt:lpstr>
      <vt:lpstr>Office Theme</vt:lpstr>
      <vt:lpstr>Welcome to Week 6</vt:lpstr>
      <vt:lpstr>Agenda</vt:lpstr>
      <vt:lpstr>Time Series Analysis</vt:lpstr>
      <vt:lpstr>Why Time Series Analysis</vt:lpstr>
      <vt:lpstr>Time Series Analysis</vt:lpstr>
      <vt:lpstr>Endogenous vs Exogenous Variables</vt:lpstr>
      <vt:lpstr>Characteristics</vt:lpstr>
      <vt:lpstr>PowerPoint Presentation</vt:lpstr>
      <vt:lpstr>PowerPoint Presentation</vt:lpstr>
      <vt:lpstr>PowerPoint Presentation</vt:lpstr>
      <vt:lpstr>PowerPoint Presentation</vt:lpstr>
      <vt:lpstr>Identify Trend and Seasonality</vt:lpstr>
      <vt:lpstr>Identify Trend and Seasonality</vt:lpstr>
      <vt:lpstr>Identify Trend and Seasonality</vt:lpstr>
      <vt:lpstr>Time Series Forecasting</vt:lpstr>
      <vt:lpstr>How do you Forecast?</vt:lpstr>
      <vt:lpstr>Applications of Time Series</vt:lpstr>
      <vt:lpstr>Thank you!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KANGRALKAR, Swapnil</cp:lastModifiedBy>
  <cp:revision>456</cp:revision>
  <dcterms:created xsi:type="dcterms:W3CDTF">2016-12-21T16:02:28Z</dcterms:created>
  <dcterms:modified xsi:type="dcterms:W3CDTF">2024-02-14T01:35:19Z</dcterms:modified>
</cp:coreProperties>
</file>