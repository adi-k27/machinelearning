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4"/>
  </p:notesMasterIdLst>
  <p:handoutMasterIdLst>
    <p:handoutMasterId r:id="rId25"/>
  </p:handoutMasterIdLst>
  <p:sldIdLst>
    <p:sldId id="256" r:id="rId2"/>
    <p:sldId id="369" r:id="rId3"/>
    <p:sldId id="448" r:id="rId4"/>
    <p:sldId id="441" r:id="rId5"/>
    <p:sldId id="437" r:id="rId6"/>
    <p:sldId id="449" r:id="rId7"/>
    <p:sldId id="450" r:id="rId8"/>
    <p:sldId id="456" r:id="rId9"/>
    <p:sldId id="451" r:id="rId10"/>
    <p:sldId id="452" r:id="rId11"/>
    <p:sldId id="453" r:id="rId12"/>
    <p:sldId id="454" r:id="rId13"/>
    <p:sldId id="455" r:id="rId14"/>
    <p:sldId id="457" r:id="rId15"/>
    <p:sldId id="459" r:id="rId16"/>
    <p:sldId id="460" r:id="rId17"/>
    <p:sldId id="461" r:id="rId18"/>
    <p:sldId id="462" r:id="rId19"/>
    <p:sldId id="463" r:id="rId20"/>
    <p:sldId id="464" r:id="rId21"/>
    <p:sldId id="465" r:id="rId22"/>
    <p:sldId id="458" r:id="rId23"/>
  </p:sldIdLst>
  <p:sldSz cx="16257588" cy="9144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51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267A52"/>
    <a:srgbClr val="76D6FF"/>
    <a:srgbClr val="FF2600"/>
    <a:srgbClr val="FF9300"/>
    <a:srgbClr val="73FEFF"/>
    <a:srgbClr val="FF85FF"/>
    <a:srgbClr val="589278"/>
    <a:srgbClr val="43B02A"/>
    <a:srgbClr val="00673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4" autoAdjust="0"/>
    <p:restoredTop sz="93779" autoAdjust="0"/>
  </p:normalViewPr>
  <p:slideViewPr>
    <p:cSldViewPr snapToGrid="0" snapToObjects="1">
      <p:cViewPr varScale="1">
        <p:scale>
          <a:sx n="79" d="100"/>
          <a:sy n="79" d="100"/>
        </p:scale>
        <p:origin x="976" y="200"/>
      </p:cViewPr>
      <p:guideLst>
        <p:guide orient="horz" pos="2880"/>
        <p:guide pos="5121"/>
      </p:guideLst>
    </p:cSldViewPr>
  </p:slideViewPr>
  <p:outlineViewPr>
    <p:cViewPr>
      <p:scale>
        <a:sx n="33" d="100"/>
        <a:sy n="33" d="100"/>
      </p:scale>
      <p:origin x="0" y="538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678AF4-5E64-AC4C-BB17-179E924E563F}" type="datetimeFigureOut">
              <a:rPr lang="en-US" smtClean="0"/>
              <a:t>3/12/24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BC6A53-3777-FA4B-999B-678D40C4B3AE}" type="slidenum">
              <a:rPr lang="en-US" smtClean="0"/>
              <a:t>‹#›</a:t>
            </a:fld>
            <a:endParaRPr lang="en-US"/>
          </a:p>
        </p:txBody>
      </p:sp>
    </p:spTree>
    <p:extLst>
      <p:ext uri="{BB962C8B-B14F-4D97-AF65-F5344CB8AC3E}">
        <p14:creationId xmlns:p14="http://schemas.microsoft.com/office/powerpoint/2010/main" val="33504137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A0A7F-40AB-B84E-BA8C-8861397EF456}" type="datetimeFigureOut">
              <a:rPr lang="en-US" smtClean="0"/>
              <a:t>3/12/24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B51CE3-F1EC-6B4D-8B6D-86D363C89BAA}" type="slidenum">
              <a:rPr lang="en-US" smtClean="0"/>
              <a:t>‹#›</a:t>
            </a:fld>
            <a:endParaRPr lang="en-US"/>
          </a:p>
        </p:txBody>
      </p:sp>
    </p:spTree>
    <p:extLst>
      <p:ext uri="{BB962C8B-B14F-4D97-AF65-F5344CB8AC3E}">
        <p14:creationId xmlns:p14="http://schemas.microsoft.com/office/powerpoint/2010/main" val="3901875955"/>
      </p:ext>
    </p:extLst>
  </p:cSld>
  <p:clrMap bg1="lt1" tx1="dk1" bg2="lt2" tx2="dk2" accent1="accent1" accent2="accent2" accent3="accent3" accent4="accent4" accent5="accent5" accent6="accent6" hlink="hlink" folHlink="folHlink"/>
  <p:hf hdr="0" ftr="0" dt="0"/>
  <p:notesStyle>
    <a:lvl1pPr marL="0" algn="l" defTabSz="781583" rtl="0" eaLnBrk="1" latinLnBrk="0" hangingPunct="1">
      <a:defRPr sz="2100" kern="1200">
        <a:solidFill>
          <a:schemeClr val="tx1"/>
        </a:solidFill>
        <a:latin typeface="+mn-lt"/>
        <a:ea typeface="+mn-ea"/>
        <a:cs typeface="+mn-cs"/>
      </a:defRPr>
    </a:lvl1pPr>
    <a:lvl2pPr marL="781583" algn="l" defTabSz="781583" rtl="0" eaLnBrk="1" latinLnBrk="0" hangingPunct="1">
      <a:defRPr sz="2100" kern="1200">
        <a:solidFill>
          <a:schemeClr val="tx1"/>
        </a:solidFill>
        <a:latin typeface="+mn-lt"/>
        <a:ea typeface="+mn-ea"/>
        <a:cs typeface="+mn-cs"/>
      </a:defRPr>
    </a:lvl2pPr>
    <a:lvl3pPr marL="1563167" algn="l" defTabSz="781583" rtl="0" eaLnBrk="1" latinLnBrk="0" hangingPunct="1">
      <a:defRPr sz="2100" kern="1200">
        <a:solidFill>
          <a:schemeClr val="tx1"/>
        </a:solidFill>
        <a:latin typeface="+mn-lt"/>
        <a:ea typeface="+mn-ea"/>
        <a:cs typeface="+mn-cs"/>
      </a:defRPr>
    </a:lvl3pPr>
    <a:lvl4pPr marL="2344750" algn="l" defTabSz="781583" rtl="0" eaLnBrk="1" latinLnBrk="0" hangingPunct="1">
      <a:defRPr sz="2100" kern="1200">
        <a:solidFill>
          <a:schemeClr val="tx1"/>
        </a:solidFill>
        <a:latin typeface="+mn-lt"/>
        <a:ea typeface="+mn-ea"/>
        <a:cs typeface="+mn-cs"/>
      </a:defRPr>
    </a:lvl4pPr>
    <a:lvl5pPr marL="3126334" algn="l" defTabSz="781583" rtl="0" eaLnBrk="1" latinLnBrk="0" hangingPunct="1">
      <a:defRPr sz="2100" kern="1200">
        <a:solidFill>
          <a:schemeClr val="tx1"/>
        </a:solidFill>
        <a:latin typeface="+mn-lt"/>
        <a:ea typeface="+mn-ea"/>
        <a:cs typeface="+mn-cs"/>
      </a:defRPr>
    </a:lvl5pPr>
    <a:lvl6pPr marL="3907917" algn="l" defTabSz="781583" rtl="0" eaLnBrk="1" latinLnBrk="0" hangingPunct="1">
      <a:defRPr sz="2100" kern="1200">
        <a:solidFill>
          <a:schemeClr val="tx1"/>
        </a:solidFill>
        <a:latin typeface="+mn-lt"/>
        <a:ea typeface="+mn-ea"/>
        <a:cs typeface="+mn-cs"/>
      </a:defRPr>
    </a:lvl6pPr>
    <a:lvl7pPr marL="4689500" algn="l" defTabSz="781583" rtl="0" eaLnBrk="1" latinLnBrk="0" hangingPunct="1">
      <a:defRPr sz="2100" kern="1200">
        <a:solidFill>
          <a:schemeClr val="tx1"/>
        </a:solidFill>
        <a:latin typeface="+mn-lt"/>
        <a:ea typeface="+mn-ea"/>
        <a:cs typeface="+mn-cs"/>
      </a:defRPr>
    </a:lvl7pPr>
    <a:lvl8pPr marL="5471084" algn="l" defTabSz="781583" rtl="0" eaLnBrk="1" latinLnBrk="0" hangingPunct="1">
      <a:defRPr sz="2100" kern="1200">
        <a:solidFill>
          <a:schemeClr val="tx1"/>
        </a:solidFill>
        <a:latin typeface="+mn-lt"/>
        <a:ea typeface="+mn-ea"/>
        <a:cs typeface="+mn-cs"/>
      </a:defRPr>
    </a:lvl8pPr>
    <a:lvl9pPr marL="6252667" algn="l" defTabSz="781583" rtl="0" eaLnBrk="1" latinLnBrk="0" hangingPunct="1">
      <a:defRPr sz="2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2</a:t>
            </a:fld>
            <a:endParaRPr lang="en-US"/>
          </a:p>
        </p:txBody>
      </p:sp>
    </p:spTree>
    <p:extLst>
      <p:ext uri="{BB962C8B-B14F-4D97-AF65-F5344CB8AC3E}">
        <p14:creationId xmlns:p14="http://schemas.microsoft.com/office/powerpoint/2010/main" val="1032830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100" b="0" i="0" u="none" strike="noStrike" kern="1200" dirty="0">
                <a:solidFill>
                  <a:schemeClr val="tx1"/>
                </a:solidFill>
                <a:effectLst/>
                <a:latin typeface="+mn-lt"/>
                <a:ea typeface="+mn-ea"/>
                <a:cs typeface="+mn-cs"/>
              </a:rPr>
              <a:t>Natural Language Processing (NLP) is increasingly being used in healthcare to help process and </a:t>
            </a:r>
            <a:r>
              <a:rPr lang="en-IN" sz="2100" b="0" i="0" u="none" strike="noStrike" kern="1200" dirty="0" err="1">
                <a:solidFill>
                  <a:schemeClr val="tx1"/>
                </a:solidFill>
                <a:effectLst/>
                <a:latin typeface="+mn-lt"/>
                <a:ea typeface="+mn-ea"/>
                <a:cs typeface="+mn-cs"/>
              </a:rPr>
              <a:t>analyze</a:t>
            </a:r>
            <a:r>
              <a:rPr lang="en-IN" sz="2100" b="0" i="0" u="none" strike="noStrike" kern="1200" dirty="0">
                <a:solidFill>
                  <a:schemeClr val="tx1"/>
                </a:solidFill>
                <a:effectLst/>
                <a:latin typeface="+mn-lt"/>
                <a:ea typeface="+mn-ea"/>
                <a:cs typeface="+mn-cs"/>
              </a:rPr>
              <a:t> vast amounts of medical data, including clinical notes, medical records, and patient feedback</a:t>
            </a:r>
          </a:p>
          <a:p>
            <a:r>
              <a:rPr lang="en-IN" dirty="0">
                <a:effectLst/>
              </a:rPr>
              <a:t>In finance to help process and </a:t>
            </a:r>
            <a:r>
              <a:rPr lang="en-IN" dirty="0" err="1">
                <a:effectLst/>
              </a:rPr>
              <a:t>analyze</a:t>
            </a:r>
            <a:r>
              <a:rPr lang="en-IN" dirty="0">
                <a:effectLst/>
              </a:rPr>
              <a:t> large volumes of financial data, news articles, and social media posts, and i</a:t>
            </a:r>
            <a:r>
              <a:rPr lang="en-IN" sz="2100" b="0" i="0" u="none" strike="noStrike" kern="1200" dirty="0">
                <a:solidFill>
                  <a:schemeClr val="tx1"/>
                </a:solidFill>
                <a:effectLst/>
                <a:latin typeface="+mn-lt"/>
                <a:ea typeface="+mn-ea"/>
                <a:cs typeface="+mn-cs"/>
              </a:rPr>
              <a:t>mprove customer service by </a:t>
            </a:r>
            <a:r>
              <a:rPr lang="en-IN" sz="2100" b="0" i="0" u="none" strike="noStrike" kern="1200" dirty="0" err="1">
                <a:solidFill>
                  <a:schemeClr val="tx1"/>
                </a:solidFill>
                <a:effectLst/>
                <a:latin typeface="+mn-lt"/>
                <a:ea typeface="+mn-ea"/>
                <a:cs typeface="+mn-cs"/>
              </a:rPr>
              <a:t>analyzing</a:t>
            </a:r>
            <a:r>
              <a:rPr lang="en-IN" sz="2100" b="0" i="0" u="none" strike="noStrike" kern="1200" dirty="0">
                <a:solidFill>
                  <a:schemeClr val="tx1"/>
                </a:solidFill>
                <a:effectLst/>
                <a:latin typeface="+mn-lt"/>
                <a:ea typeface="+mn-ea"/>
                <a:cs typeface="+mn-cs"/>
              </a:rPr>
              <a:t> customer feedback</a:t>
            </a:r>
            <a:endParaRPr lang="en-IN" dirty="0">
              <a:effectLst/>
            </a:endParaRPr>
          </a:p>
          <a:p>
            <a:br>
              <a:rPr lang="en-IN" dirty="0">
                <a:effectLst/>
              </a:rPr>
            </a:br>
            <a:endParaRPr lang="en-IN" dirty="0">
              <a:effectLst/>
            </a:endParaRPr>
          </a:p>
          <a:p>
            <a:endParaRPr lang="en-IN" sz="21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3</a:t>
            </a:fld>
            <a:endParaRPr lang="en-US"/>
          </a:p>
        </p:txBody>
      </p:sp>
    </p:spTree>
    <p:extLst>
      <p:ext uri="{BB962C8B-B14F-4D97-AF65-F5344CB8AC3E}">
        <p14:creationId xmlns:p14="http://schemas.microsoft.com/office/powerpoint/2010/main" val="3484022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4</a:t>
            </a:fld>
            <a:endParaRPr lang="en-US"/>
          </a:p>
        </p:txBody>
      </p:sp>
    </p:spTree>
    <p:extLst>
      <p:ext uri="{BB962C8B-B14F-4D97-AF65-F5344CB8AC3E}">
        <p14:creationId xmlns:p14="http://schemas.microsoft.com/office/powerpoint/2010/main" val="3179730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100" b="0" i="0" u="none" strike="noStrike" kern="1200" dirty="0">
                <a:solidFill>
                  <a:schemeClr val="tx1"/>
                </a:solidFill>
                <a:effectLst/>
                <a:latin typeface="+mn-lt"/>
                <a:ea typeface="+mn-ea"/>
                <a:cs typeface="+mn-cs"/>
              </a:rPr>
              <a:t>Consistency: By converting all text to lowercase, we can ensure that the text is consistent and that the same word is always represented the same way. This is important because words with different capitalization may have different meanings (e.g., "apple" vs. "Apple").</a:t>
            </a:r>
          </a:p>
          <a:p>
            <a:r>
              <a:rPr lang="en-IN" sz="2100" b="0" i="0" u="none" strike="noStrike" kern="1200" dirty="0">
                <a:solidFill>
                  <a:schemeClr val="tx1"/>
                </a:solidFill>
                <a:effectLst/>
                <a:latin typeface="+mn-lt"/>
                <a:ea typeface="+mn-ea"/>
                <a:cs typeface="+mn-cs"/>
              </a:rPr>
              <a:t>Vocabulary Reduction: Lowercasing text reduces the vocabulary size, which can make the analysis more manageable and efficient.</a:t>
            </a:r>
          </a:p>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5</a:t>
            </a:fld>
            <a:endParaRPr lang="en-US"/>
          </a:p>
        </p:txBody>
      </p:sp>
    </p:spTree>
    <p:extLst>
      <p:ext uri="{BB962C8B-B14F-4D97-AF65-F5344CB8AC3E}">
        <p14:creationId xmlns:p14="http://schemas.microsoft.com/office/powerpoint/2010/main" val="239403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100" b="0" i="0" u="none" strike="noStrike" kern="1200" dirty="0">
                <a:solidFill>
                  <a:schemeClr val="tx1"/>
                </a:solidFill>
                <a:effectLst/>
                <a:latin typeface="+mn-lt"/>
                <a:ea typeface="+mn-ea"/>
                <a:cs typeface="+mn-cs"/>
              </a:rPr>
              <a:t>Consistency: By converting all text to lowercase, we can ensure that the text is consistent and that the same word is always represented the same way. This is important because words with different capitalization may have different meanings (e.g., "apple" vs. "Apple").</a:t>
            </a:r>
          </a:p>
          <a:p>
            <a:r>
              <a:rPr lang="en-IN" sz="2100" b="0" i="0" u="none" strike="noStrike" kern="1200" dirty="0">
                <a:solidFill>
                  <a:schemeClr val="tx1"/>
                </a:solidFill>
                <a:effectLst/>
                <a:latin typeface="+mn-lt"/>
                <a:ea typeface="+mn-ea"/>
                <a:cs typeface="+mn-cs"/>
              </a:rPr>
              <a:t>Vocabulary Reduction: Lowercasing text reduces the vocabulary size, which can make the analysis more manageable and efficient.</a:t>
            </a:r>
          </a:p>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6</a:t>
            </a:fld>
            <a:endParaRPr lang="en-US"/>
          </a:p>
        </p:txBody>
      </p:sp>
    </p:spTree>
    <p:extLst>
      <p:ext uri="{BB962C8B-B14F-4D97-AF65-F5344CB8AC3E}">
        <p14:creationId xmlns:p14="http://schemas.microsoft.com/office/powerpoint/2010/main" val="454180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7</a:t>
            </a:fld>
            <a:endParaRPr lang="en-US"/>
          </a:p>
        </p:txBody>
      </p:sp>
    </p:spTree>
    <p:extLst>
      <p:ext uri="{BB962C8B-B14F-4D97-AF65-F5344CB8AC3E}">
        <p14:creationId xmlns:p14="http://schemas.microsoft.com/office/powerpoint/2010/main" val="4042079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8</a:t>
            </a:fld>
            <a:endParaRPr lang="en-US"/>
          </a:p>
        </p:txBody>
      </p:sp>
    </p:spTree>
    <p:extLst>
      <p:ext uri="{BB962C8B-B14F-4D97-AF65-F5344CB8AC3E}">
        <p14:creationId xmlns:p14="http://schemas.microsoft.com/office/powerpoint/2010/main" val="3192182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9</a:t>
            </a:fld>
            <a:endParaRPr lang="en-US"/>
          </a:p>
        </p:txBody>
      </p:sp>
    </p:spTree>
    <p:extLst>
      <p:ext uri="{BB962C8B-B14F-4D97-AF65-F5344CB8AC3E}">
        <p14:creationId xmlns:p14="http://schemas.microsoft.com/office/powerpoint/2010/main" val="1269308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10</a:t>
            </a:fld>
            <a:endParaRPr lang="en-US"/>
          </a:p>
        </p:txBody>
      </p:sp>
    </p:spTree>
    <p:extLst>
      <p:ext uri="{BB962C8B-B14F-4D97-AF65-F5344CB8AC3E}">
        <p14:creationId xmlns:p14="http://schemas.microsoft.com/office/powerpoint/2010/main" val="3996026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11</a:t>
            </a:fld>
            <a:endParaRPr lang="en-US"/>
          </a:p>
        </p:txBody>
      </p:sp>
    </p:spTree>
    <p:extLst>
      <p:ext uri="{BB962C8B-B14F-4D97-AF65-F5344CB8AC3E}">
        <p14:creationId xmlns:p14="http://schemas.microsoft.com/office/powerpoint/2010/main" val="1318018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12</a:t>
            </a:fld>
            <a:endParaRPr lang="en-US"/>
          </a:p>
        </p:txBody>
      </p:sp>
    </p:spTree>
    <p:extLst>
      <p:ext uri="{BB962C8B-B14F-4D97-AF65-F5344CB8AC3E}">
        <p14:creationId xmlns:p14="http://schemas.microsoft.com/office/powerpoint/2010/main" val="264339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100" b="0" i="0" kern="1200" dirty="0">
                <a:solidFill>
                  <a:schemeClr val="tx1"/>
                </a:solidFill>
                <a:effectLst/>
                <a:latin typeface="+mn-lt"/>
                <a:ea typeface="+mn-ea"/>
                <a:cs typeface="+mn-cs"/>
              </a:rPr>
              <a:t>Lemmatizing uses a more sophisticated algorithm to find root words at the expense of speed.</a:t>
            </a:r>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13</a:t>
            </a:fld>
            <a:endParaRPr lang="en-US"/>
          </a:p>
        </p:txBody>
      </p:sp>
    </p:spTree>
    <p:extLst>
      <p:ext uri="{BB962C8B-B14F-4D97-AF65-F5344CB8AC3E}">
        <p14:creationId xmlns:p14="http://schemas.microsoft.com/office/powerpoint/2010/main" val="686224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14</a:t>
            </a:fld>
            <a:endParaRPr lang="en-US"/>
          </a:p>
        </p:txBody>
      </p:sp>
    </p:spTree>
    <p:extLst>
      <p:ext uri="{BB962C8B-B14F-4D97-AF65-F5344CB8AC3E}">
        <p14:creationId xmlns:p14="http://schemas.microsoft.com/office/powerpoint/2010/main" val="757348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15</a:t>
            </a:fld>
            <a:endParaRPr lang="en-US"/>
          </a:p>
        </p:txBody>
      </p:sp>
    </p:spTree>
    <p:extLst>
      <p:ext uri="{BB962C8B-B14F-4D97-AF65-F5344CB8AC3E}">
        <p14:creationId xmlns:p14="http://schemas.microsoft.com/office/powerpoint/2010/main" val="3973470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16</a:t>
            </a:fld>
            <a:endParaRPr lang="en-US"/>
          </a:p>
        </p:txBody>
      </p:sp>
    </p:spTree>
    <p:extLst>
      <p:ext uri="{BB962C8B-B14F-4D97-AF65-F5344CB8AC3E}">
        <p14:creationId xmlns:p14="http://schemas.microsoft.com/office/powerpoint/2010/main" val="4202202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17</a:t>
            </a:fld>
            <a:endParaRPr lang="en-US"/>
          </a:p>
        </p:txBody>
      </p:sp>
    </p:spTree>
    <p:extLst>
      <p:ext uri="{BB962C8B-B14F-4D97-AF65-F5344CB8AC3E}">
        <p14:creationId xmlns:p14="http://schemas.microsoft.com/office/powerpoint/2010/main" val="3448769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18</a:t>
            </a:fld>
            <a:endParaRPr lang="en-US"/>
          </a:p>
        </p:txBody>
      </p:sp>
    </p:spTree>
    <p:extLst>
      <p:ext uri="{BB962C8B-B14F-4D97-AF65-F5344CB8AC3E}">
        <p14:creationId xmlns:p14="http://schemas.microsoft.com/office/powerpoint/2010/main" val="40516881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19</a:t>
            </a:fld>
            <a:endParaRPr lang="en-US"/>
          </a:p>
        </p:txBody>
      </p:sp>
    </p:spTree>
    <p:extLst>
      <p:ext uri="{BB962C8B-B14F-4D97-AF65-F5344CB8AC3E}">
        <p14:creationId xmlns:p14="http://schemas.microsoft.com/office/powerpoint/2010/main" val="3426293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100" b="0" i="0" u="none" strike="noStrike" kern="1200" dirty="0">
                <a:solidFill>
                  <a:schemeClr val="tx1"/>
                </a:solidFill>
                <a:effectLst/>
                <a:latin typeface="+mn-lt"/>
                <a:ea typeface="+mn-ea"/>
                <a:cs typeface="+mn-cs"/>
              </a:rPr>
              <a:t>In mathematics, a vector is an object that has both magnitude and direction. It can be represented by an arrow or line segment pointing from an initial point to a terminal point. In high-dimensional space, a vector can be represented by a set of numbers (coordinates) that describe its position relative to a reference point or origin.</a:t>
            </a:r>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20</a:t>
            </a:fld>
            <a:endParaRPr lang="en-US"/>
          </a:p>
        </p:txBody>
      </p:sp>
    </p:spTree>
    <p:extLst>
      <p:ext uri="{BB962C8B-B14F-4D97-AF65-F5344CB8AC3E}">
        <p14:creationId xmlns:p14="http://schemas.microsoft.com/office/powerpoint/2010/main" val="2004929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B51CE3-F1EC-6B4D-8B6D-86D363C89BAA}" type="slidenum">
              <a:rPr lang="en-US" smtClean="0"/>
              <a:t>21</a:t>
            </a:fld>
            <a:endParaRPr lang="en-US"/>
          </a:p>
        </p:txBody>
      </p:sp>
    </p:spTree>
    <p:extLst>
      <p:ext uri="{BB962C8B-B14F-4D97-AF65-F5344CB8AC3E}">
        <p14:creationId xmlns:p14="http://schemas.microsoft.com/office/powerpoint/2010/main" val="214415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ctrTitle" hasCustomPrompt="1"/>
          </p:nvPr>
        </p:nvSpPr>
        <p:spPr>
          <a:xfrm>
            <a:off x="812882" y="1716573"/>
            <a:ext cx="9668510" cy="2180690"/>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1"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3" y="7346545"/>
            <a:ext cx="7145607"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28" y="825406"/>
            <a:ext cx="3390900" cy="711200"/>
          </a:xfrm>
          <a:prstGeom prst="rect">
            <a:avLst/>
          </a:prstGeom>
        </p:spPr>
      </p:pic>
    </p:spTree>
    <p:extLst>
      <p:ext uri="{BB962C8B-B14F-4D97-AF65-F5344CB8AC3E}">
        <p14:creationId xmlns:p14="http://schemas.microsoft.com/office/powerpoint/2010/main" val="364402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title" hasCustomPrompt="1"/>
          </p:nvPr>
        </p:nvSpPr>
        <p:spPr>
          <a:xfrm>
            <a:off x="812880" y="2059516"/>
            <a:ext cx="9668513"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1" y="4083762"/>
            <a:ext cx="9668512" cy="2000250"/>
          </a:xfrm>
        </p:spPr>
        <p:txBody>
          <a:bodyPr lIns="0" tIns="0" rIns="0" bIns="0" anchor="t"/>
          <a:lstStyle>
            <a:lvl1pPr marL="0" indent="0">
              <a:lnSpc>
                <a:spcPct val="100000"/>
              </a:lnSpc>
              <a:buNone/>
              <a:defRPr sz="3400" baseline="0">
                <a:solidFill>
                  <a:srgbClr val="A6C8BC"/>
                </a:solidFill>
              </a:defRPr>
            </a:lvl1pPr>
            <a:lvl2pPr marL="781583" indent="0">
              <a:buNone/>
              <a:defRPr sz="3100">
                <a:solidFill>
                  <a:schemeClr val="tx1">
                    <a:tint val="75000"/>
                  </a:schemeClr>
                </a:solidFill>
              </a:defRPr>
            </a:lvl2pPr>
            <a:lvl3pPr marL="1563167" indent="0">
              <a:buNone/>
              <a:defRPr sz="2700">
                <a:solidFill>
                  <a:schemeClr val="tx1">
                    <a:tint val="75000"/>
                  </a:schemeClr>
                </a:solidFill>
              </a:defRPr>
            </a:lvl3pPr>
            <a:lvl4pPr marL="2344750" indent="0">
              <a:buNone/>
              <a:defRPr sz="2400">
                <a:solidFill>
                  <a:schemeClr val="tx1">
                    <a:tint val="75000"/>
                  </a:schemeClr>
                </a:solidFill>
              </a:defRPr>
            </a:lvl4pPr>
            <a:lvl5pPr marL="3126334" indent="0">
              <a:buNone/>
              <a:defRPr sz="2400">
                <a:solidFill>
                  <a:schemeClr val="tx1">
                    <a:tint val="75000"/>
                  </a:schemeClr>
                </a:solidFill>
              </a:defRPr>
            </a:lvl5pPr>
            <a:lvl6pPr marL="3907917" indent="0">
              <a:buNone/>
              <a:defRPr sz="2400">
                <a:solidFill>
                  <a:schemeClr val="tx1">
                    <a:tint val="75000"/>
                  </a:schemeClr>
                </a:solidFill>
              </a:defRPr>
            </a:lvl6pPr>
            <a:lvl7pPr marL="4689500" indent="0">
              <a:buNone/>
              <a:defRPr sz="2400">
                <a:solidFill>
                  <a:schemeClr val="tx1">
                    <a:tint val="75000"/>
                  </a:schemeClr>
                </a:solidFill>
              </a:defRPr>
            </a:lvl7pPr>
            <a:lvl8pPr marL="5471084" indent="0">
              <a:buNone/>
              <a:defRPr sz="2400">
                <a:solidFill>
                  <a:schemeClr val="tx1">
                    <a:tint val="75000"/>
                  </a:schemeClr>
                </a:solidFill>
              </a:defRPr>
            </a:lvl8pPr>
            <a:lvl9pPr marL="6252667"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3" y="689942"/>
            <a:ext cx="965199" cy="711200"/>
          </a:xfrm>
          <a:prstGeom prst="rect">
            <a:avLst/>
          </a:prstGeom>
        </p:spPr>
      </p:pic>
      <p:sp>
        <p:nvSpPr>
          <p:cNvPr id="15" name="Slide Number Placeholder 8"/>
          <p:cNvSpPr>
            <a:spLocks noGrp="1"/>
          </p:cNvSpPr>
          <p:nvPr>
            <p:ph type="sldNum" sz="quarter" idx="11"/>
          </p:nvPr>
        </p:nvSpPr>
        <p:spPr>
          <a:xfrm>
            <a:off x="199082" y="8497455"/>
            <a:ext cx="529132" cy="486834"/>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58" y="2404534"/>
            <a:ext cx="4633424"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3"/>
            <a:ext cx="4673448" cy="2881182"/>
          </a:xfrm>
        </p:spPr>
        <p:txBody>
          <a:bodyPr anchor="ctr"/>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5" y="2405062"/>
            <a:ext cx="4673600"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5" y="5997575"/>
            <a:ext cx="4673600"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16981270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4" y="2405062"/>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3" y="3115733"/>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5" y="2405062"/>
            <a:ext cx="4673600"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5" y="5503333"/>
            <a:ext cx="4673600"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1" y="2405062"/>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3"/>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2" y="2405062"/>
            <a:ext cx="4673600"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2" y="5503333"/>
            <a:ext cx="4673600"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395379744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92832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660398"/>
            <a:ext cx="11615780" cy="6874935"/>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65636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2" y="2404534"/>
            <a:ext cx="716245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2404534"/>
            <a:ext cx="71475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3861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2" y="3115732"/>
            <a:ext cx="7162458" cy="4419601"/>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3115732"/>
            <a:ext cx="7147539" cy="4419602"/>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3" y="2405062"/>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0" y="2405062"/>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20"/>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657022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2" y="2404534"/>
            <a:ext cx="46733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2404534"/>
            <a:ext cx="464400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4"/>
            <a:ext cx="467344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69520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2" y="3115732"/>
            <a:ext cx="4673339"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3115732"/>
            <a:ext cx="4644000"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2"/>
            <a:ext cx="4673448"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65456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2" y="2404534"/>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2404534"/>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4"/>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130801"/>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130801"/>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1"/>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00480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2" y="3115733"/>
            <a:ext cx="4673339"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3115733"/>
            <a:ext cx="4644000"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3"/>
            <a:ext cx="4673448"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858406"/>
            <a:ext cx="4673339"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858406"/>
            <a:ext cx="4644000"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6"/>
            <a:ext cx="4673448"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3" y="5147735"/>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5" y="5147735"/>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3" y="5147735"/>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5" name="Slide Number Placeholder 8"/>
          <p:cNvSpPr>
            <a:spLocks noGrp="1"/>
          </p:cNvSpPr>
          <p:nvPr>
            <p:ph type="sldNum" sz="quarter" idx="27"/>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0363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5505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2" y="660398"/>
            <a:ext cx="11615780" cy="6874936"/>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1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2" y="3115732"/>
            <a:ext cx="716245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69" y="3115732"/>
            <a:ext cx="71475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2" y="2405062"/>
            <a:ext cx="7162457"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68" y="2405062"/>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2774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3" y="3115732"/>
            <a:ext cx="4658525"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383127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2" y="5858405"/>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3" y="5858405"/>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3" y="5147735"/>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2" y="5147735"/>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5"/>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6" y="5147735"/>
            <a:ext cx="4643998"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3" y="3115732"/>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79371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860800"/>
            <a:ext cx="4673339"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860800"/>
            <a:ext cx="4644000"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0"/>
            <a:ext cx="4673448" cy="3679138"/>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75441"/>
            <a:ext cx="4673340" cy="1226329"/>
          </a:xfrm>
        </p:spPr>
        <p:txBody>
          <a:bodyPr anchor="b"/>
          <a:lstStyle>
            <a:lvl1pPr>
              <a:lnSpc>
                <a:spcPct val="80000"/>
              </a:lnSpc>
              <a:defRPr sz="11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b"/>
          <a:lstStyle>
            <a:lvl1pPr>
              <a:lnSpc>
                <a:spcPct val="80000"/>
              </a:lnSpc>
              <a:defRPr sz="11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b"/>
          <a:lstStyle>
            <a:lvl1pPr>
              <a:lnSpc>
                <a:spcPct val="80000"/>
              </a:lnSpc>
              <a:defRPr sz="11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132642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701769"/>
            <a:ext cx="4673339"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701769"/>
            <a:ext cx="4644000"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69"/>
            <a:ext cx="4673448" cy="3838169"/>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41575"/>
            <a:ext cx="4673340" cy="1260195"/>
          </a:xfrm>
        </p:spPr>
        <p:txBody>
          <a:bodyPr anchor="t"/>
          <a:lstStyle>
            <a:lvl1pPr>
              <a:lnSpc>
                <a:spcPct val="80000"/>
              </a:lnSpc>
              <a:defRPr sz="7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t"/>
          <a:lstStyle>
            <a:lvl1pPr>
              <a:lnSpc>
                <a:spcPct val="80000"/>
              </a:lnSpc>
              <a:defRPr sz="7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t"/>
          <a:lstStyle>
            <a:lvl1pPr>
              <a:lnSpc>
                <a:spcPct val="80000"/>
              </a:lnSpc>
              <a:defRPr sz="7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533607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4538133"/>
            <a:ext cx="4673339"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5" y="4538133"/>
            <a:ext cx="4644000"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3"/>
            <a:ext cx="4673448" cy="3001805"/>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5"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Picture Placeholder 3"/>
          <p:cNvSpPr>
            <a:spLocks noGrp="1" noChangeAspect="1"/>
          </p:cNvSpPr>
          <p:nvPr>
            <p:ph type="pic" sz="quarter" idx="26" hasCustomPrompt="1"/>
          </p:nvPr>
        </p:nvSpPr>
        <p:spPr>
          <a:xfrm>
            <a:off x="1173631"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0"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Picture Placeholder 3"/>
          <p:cNvSpPr>
            <a:spLocks noGrp="1" noChangeAspect="1"/>
          </p:cNvSpPr>
          <p:nvPr>
            <p:ph type="pic" sz="quarter" idx="27" hasCustomPrompt="1"/>
          </p:nvPr>
        </p:nvSpPr>
        <p:spPr>
          <a:xfrm>
            <a:off x="6168776"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18"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Picture Placeholder 3"/>
          <p:cNvSpPr>
            <a:spLocks noGrp="1" noChangeAspect="1"/>
          </p:cNvSpPr>
          <p:nvPr>
            <p:ph type="pic" sz="quarter" idx="28" hasCustomPrompt="1"/>
          </p:nvPr>
        </p:nvSpPr>
        <p:spPr>
          <a:xfrm>
            <a:off x="11147405"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0" name="Slide Number Placeholder 8"/>
          <p:cNvSpPr>
            <a:spLocks noGrp="1"/>
          </p:cNvSpPr>
          <p:nvPr>
            <p:ph type="sldNum" sz="quarter" idx="2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99631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5" name="Media Placeholder 4"/>
          <p:cNvSpPr>
            <a:spLocks noGrp="1"/>
          </p:cNvSpPr>
          <p:nvPr>
            <p:ph type="media" sz="quarter" idx="10" hasCustomPrompt="1"/>
          </p:nvPr>
        </p:nvSpPr>
        <p:spPr>
          <a:xfrm>
            <a:off x="3287077" y="829734"/>
            <a:ext cx="9683434" cy="7501466"/>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880309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3" name="Rectangle 2"/>
          <p:cNvSpPr/>
          <p:nvPr userDrawn="1"/>
        </p:nvSpPr>
        <p:spPr>
          <a:xfrm>
            <a:off x="805366" y="838200"/>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7" y="6561978"/>
            <a:ext cx="9683434"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2574370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8"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7" y="6561978"/>
            <a:ext cx="9683434"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58602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3421992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00269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8127735"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4" y="2552251"/>
            <a:ext cx="10296000"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200">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3" y="3012628"/>
            <a:ext cx="9653802" cy="510712"/>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3" y="5643918"/>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81210466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1" y="768365"/>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5"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6" y="853030"/>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6"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563347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1" y="768365"/>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0"/>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0"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18545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6" y="0"/>
            <a:ext cx="16256402" cy="9144000"/>
          </a:xfrm>
        </p:spPr>
        <p:txBody>
          <a:bodyPr/>
          <a:lstStyle>
            <a:lvl1pPr marL="0" indent="0">
              <a:buNone/>
              <a:defRPr sz="4000" baseline="0"/>
            </a:lvl1pPr>
            <a:lvl2pPr marL="781583" indent="0">
              <a:buNone/>
              <a:defRPr sz="4800"/>
            </a:lvl2pPr>
            <a:lvl3pPr marL="1563167" indent="0">
              <a:buNone/>
              <a:defRPr sz="4100"/>
            </a:lvl3pPr>
            <a:lvl4pPr marL="2344750" indent="0">
              <a:buNone/>
              <a:defRPr sz="3400"/>
            </a:lvl4pPr>
            <a:lvl5pPr marL="3126334" indent="0">
              <a:buNone/>
              <a:defRPr sz="3400"/>
            </a:lvl5pPr>
            <a:lvl6pPr marL="3907917" indent="0">
              <a:buNone/>
              <a:defRPr sz="3400"/>
            </a:lvl6pPr>
            <a:lvl7pPr marL="4689500" indent="0">
              <a:buNone/>
              <a:defRPr sz="3400"/>
            </a:lvl7pPr>
            <a:lvl8pPr marL="5471084" indent="0">
              <a:buNone/>
              <a:defRPr sz="3400"/>
            </a:lvl8pPr>
            <a:lvl9pPr marL="6252667" indent="0">
              <a:buNone/>
              <a:defRPr sz="3400"/>
            </a:lvl9pPr>
          </a:lstStyle>
          <a:p>
            <a:r>
              <a:rPr lang="en-US" dirty="0"/>
              <a:t>Click on this icon to insert a photo.</a:t>
            </a:r>
          </a:p>
        </p:txBody>
      </p:sp>
      <p:sp>
        <p:nvSpPr>
          <p:cNvPr id="8" name="Text Placeholder 8"/>
          <p:cNvSpPr>
            <a:spLocks noGrp="1"/>
          </p:cNvSpPr>
          <p:nvPr>
            <p:ph type="body" sz="quarter" idx="16" hasCustomPrompt="1"/>
          </p:nvPr>
        </p:nvSpPr>
        <p:spPr>
          <a:xfrm>
            <a:off x="1" y="6313857"/>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1757585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4" name="Picture Placeholder 3"/>
          <p:cNvSpPr>
            <a:spLocks noGrp="1"/>
          </p:cNvSpPr>
          <p:nvPr>
            <p:ph type="pic" sz="quarter" idx="10" hasCustomPrompt="1"/>
          </p:nvPr>
        </p:nvSpPr>
        <p:spPr>
          <a:xfrm>
            <a:off x="8332918" y="829734"/>
            <a:ext cx="7111897"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7" y="829734"/>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19" y="5498998"/>
            <a:ext cx="4654526"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7726275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2" name="Picture Placeholder 5"/>
          <p:cNvSpPr>
            <a:spLocks noGrp="1"/>
          </p:cNvSpPr>
          <p:nvPr>
            <p:ph type="pic" sz="quarter" idx="11" hasCustomPrompt="1"/>
          </p:nvPr>
        </p:nvSpPr>
        <p:spPr>
          <a:xfrm>
            <a:off x="829707" y="829734"/>
            <a:ext cx="11598955"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80722002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3" name="Picture Placeholder 5"/>
          <p:cNvSpPr>
            <a:spLocks noGrp="1"/>
          </p:cNvSpPr>
          <p:nvPr>
            <p:ph type="pic" sz="quarter" idx="11" hasCustomPrompt="1"/>
          </p:nvPr>
        </p:nvSpPr>
        <p:spPr>
          <a:xfrm>
            <a:off x="829708" y="2404534"/>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5613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0" y="2405063"/>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49802344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1" y="3117806"/>
            <a:ext cx="10360746" cy="2612172"/>
          </a:xfrm>
        </p:spPr>
        <p:txBody>
          <a:bodyPr lIns="0" tIns="0" rIns="0" bIns="0" anchor="ctr">
            <a:noAutofit/>
          </a:bodyPr>
          <a:lstStyle>
            <a:lvl1pPr marL="0" indent="0" algn="ctr">
              <a:buNone/>
              <a:defRPr sz="4800" baseline="0">
                <a:solidFill>
                  <a:schemeClr val="accent5"/>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3" y="2082794"/>
            <a:ext cx="9615704"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1" y="6017839"/>
            <a:ext cx="9615706" cy="462413"/>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3" y="828547"/>
            <a:ext cx="635142"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5265083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604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0" y="666518"/>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0" y="2133600"/>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0" y="8475135"/>
            <a:ext cx="1180185" cy="486834"/>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368378811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9" r:id="rId3"/>
    <p:sldLayoutId id="2147483686" r:id="rId4"/>
    <p:sldLayoutId id="2147483650" r:id="rId5"/>
    <p:sldLayoutId id="2147483693" r:id="rId6"/>
    <p:sldLayoutId id="2147483685" r:id="rId7"/>
    <p:sldLayoutId id="2147483687" r:id="rId8"/>
    <p:sldLayoutId id="2147483688" r:id="rId9"/>
    <p:sldLayoutId id="2147483689" r:id="rId10"/>
    <p:sldLayoutId id="2147483690" r:id="rId11"/>
    <p:sldLayoutId id="2147483691" r:id="rId12"/>
    <p:sldLayoutId id="2147483692" r:id="rId13"/>
    <p:sldLayoutId id="2147483694" r:id="rId14"/>
    <p:sldLayoutId id="2147483695" r:id="rId15"/>
    <p:sldLayoutId id="2147483696" r:id="rId16"/>
    <p:sldLayoutId id="2147483697" r:id="rId17"/>
    <p:sldLayoutId id="2147483677" r:id="rId18"/>
    <p:sldLayoutId id="2147483698" r:id="rId19"/>
    <p:sldLayoutId id="2147483699" r:id="rId20"/>
    <p:sldLayoutId id="2147483682" r:id="rId21"/>
    <p:sldLayoutId id="2147483654" r:id="rId22"/>
    <p:sldLayoutId id="2147483662" r:id="rId23"/>
    <p:sldLayoutId id="2147483683" r:id="rId24"/>
    <p:sldLayoutId id="2147483684" r:id="rId25"/>
    <p:sldLayoutId id="2147483664" r:id="rId26"/>
    <p:sldLayoutId id="2147483700" r:id="rId27"/>
    <p:sldLayoutId id="2147483701" r:id="rId28"/>
    <p:sldLayoutId id="2147483657" r:id="rId29"/>
    <p:sldLayoutId id="2147483674" r:id="rId30"/>
    <p:sldLayoutId id="2147483675" r:id="rId31"/>
    <p:sldLayoutId id="2147483681" r:id="rId32"/>
    <p:sldLayoutId id="2147483667" r:id="rId33"/>
    <p:sldLayoutId id="2147483680" r:id="rId34"/>
    <p:sldLayoutId id="2147483702" r:id="rId35"/>
  </p:sldLayoutIdLst>
  <p:hf hdr="0" ftr="0" dt="0"/>
  <p:txStyles>
    <p:titleStyle>
      <a:lvl1pPr algn="l" defTabSz="781583" rtl="0" eaLnBrk="1" latinLnBrk="0" hangingPunct="1">
        <a:lnSpc>
          <a:spcPct val="80000"/>
        </a:lnSpc>
        <a:spcBef>
          <a:spcPct val="0"/>
        </a:spcBef>
        <a:buNone/>
        <a:defRPr sz="7200" kern="1200">
          <a:solidFill>
            <a:schemeClr val="accent5"/>
          </a:solidFill>
          <a:latin typeface="+mj-lt"/>
          <a:ea typeface="+mj-ea"/>
          <a:cs typeface="+mj-cs"/>
        </a:defRPr>
      </a:lvl1pPr>
    </p:titleStyle>
    <p:bodyStyle>
      <a:lvl1pPr marL="0" indent="0" algn="l" defTabSz="781583"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70073" indent="-488490" algn="l" defTabSz="781583"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20367" indent="-457200" algn="l" defTabSz="781583"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542" indent="-390792" algn="l" defTabSz="781583"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7125" indent="-390792" algn="l" defTabSz="781583" rtl="0" eaLnBrk="1" latinLnBrk="0" hangingPunct="1">
        <a:spcBef>
          <a:spcPct val="20000"/>
        </a:spcBef>
        <a:buFont typeface="Arial"/>
        <a:buChar char="»"/>
        <a:defRPr sz="3400" kern="1200">
          <a:solidFill>
            <a:schemeClr val="accent5"/>
          </a:solidFill>
          <a:latin typeface="+mn-lt"/>
          <a:ea typeface="+mn-ea"/>
          <a:cs typeface="+mn-cs"/>
        </a:defRPr>
      </a:lvl5pPr>
      <a:lvl6pPr marL="4298709" indent="-390792" algn="l" defTabSz="781583" rtl="0" eaLnBrk="1" latinLnBrk="0" hangingPunct="1">
        <a:spcBef>
          <a:spcPct val="20000"/>
        </a:spcBef>
        <a:buFont typeface="Arial"/>
        <a:buChar char="•"/>
        <a:defRPr sz="3400" kern="1200">
          <a:solidFill>
            <a:schemeClr val="tx1"/>
          </a:solidFill>
          <a:latin typeface="+mn-lt"/>
          <a:ea typeface="+mn-ea"/>
          <a:cs typeface="+mn-cs"/>
        </a:defRPr>
      </a:lvl6pPr>
      <a:lvl7pPr marL="5080292" indent="-390792" algn="l" defTabSz="781583" rtl="0" eaLnBrk="1" latinLnBrk="0" hangingPunct="1">
        <a:spcBef>
          <a:spcPct val="20000"/>
        </a:spcBef>
        <a:buFont typeface="Arial"/>
        <a:buChar char="•"/>
        <a:defRPr sz="3400" kern="1200">
          <a:solidFill>
            <a:schemeClr val="tx1"/>
          </a:solidFill>
          <a:latin typeface="+mn-lt"/>
          <a:ea typeface="+mn-ea"/>
          <a:cs typeface="+mn-cs"/>
        </a:defRPr>
      </a:lvl7pPr>
      <a:lvl8pPr marL="5861876" indent="-390792" algn="l" defTabSz="781583" rtl="0" eaLnBrk="1" latinLnBrk="0" hangingPunct="1">
        <a:spcBef>
          <a:spcPct val="20000"/>
        </a:spcBef>
        <a:buFont typeface="Arial"/>
        <a:buChar char="•"/>
        <a:defRPr sz="3400" kern="1200">
          <a:solidFill>
            <a:schemeClr val="tx1"/>
          </a:solidFill>
          <a:latin typeface="+mn-lt"/>
          <a:ea typeface="+mn-ea"/>
          <a:cs typeface="+mn-cs"/>
        </a:defRPr>
      </a:lvl8pPr>
      <a:lvl9pPr marL="6643459" indent="-390792" algn="l" defTabSz="781583" rtl="0" eaLnBrk="1" latinLnBrk="0" hangingPunct="1">
        <a:spcBef>
          <a:spcPct val="20000"/>
        </a:spcBef>
        <a:buFont typeface="Arial"/>
        <a:buChar char="•"/>
        <a:defRPr sz="3400" kern="1200">
          <a:solidFill>
            <a:schemeClr val="tx1"/>
          </a:solidFill>
          <a:latin typeface="+mn-lt"/>
          <a:ea typeface="+mn-ea"/>
          <a:cs typeface="+mn-cs"/>
        </a:defRPr>
      </a:lvl9pPr>
    </p:bodyStyle>
    <p:other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2881" y="2557219"/>
            <a:ext cx="13786521" cy="1348353"/>
          </a:xfrm>
        </p:spPr>
        <p:txBody>
          <a:bodyPr>
            <a:normAutofit/>
          </a:bodyPr>
          <a:lstStyle/>
          <a:p>
            <a:r>
              <a:rPr lang="en-US" dirty="0">
                <a:latin typeface="Avenir" panose="02000503020000020003" pitchFamily="2" charset="0"/>
                <a:cs typeface="Calibri" panose="020F0502020204030204" pitchFamily="34" charset="0"/>
              </a:rPr>
              <a:t>Welcome to </a:t>
            </a:r>
            <a:r>
              <a:rPr lang="en-US">
                <a:latin typeface="Avenir" panose="02000503020000020003" pitchFamily="2" charset="0"/>
                <a:cs typeface="Calibri" panose="020F0502020204030204" pitchFamily="34" charset="0"/>
              </a:rPr>
              <a:t>Week 10</a:t>
            </a:r>
            <a:endParaRPr lang="en-US" dirty="0">
              <a:latin typeface="Avenir" panose="02000503020000020003" pitchFamily="2" charset="0"/>
              <a:cs typeface="Calibri" panose="020F0502020204030204" pitchFamily="34" charset="0"/>
            </a:endParaRPr>
          </a:p>
        </p:txBody>
      </p:sp>
      <p:sp>
        <p:nvSpPr>
          <p:cNvPr id="3" name="Subtitle 2"/>
          <p:cNvSpPr>
            <a:spLocks noGrp="1"/>
          </p:cNvSpPr>
          <p:nvPr>
            <p:ph type="subTitle" idx="1"/>
          </p:nvPr>
        </p:nvSpPr>
        <p:spPr>
          <a:xfrm>
            <a:off x="829732" y="4264282"/>
            <a:ext cx="10003919" cy="927650"/>
          </a:xfrm>
        </p:spPr>
        <p:txBody>
          <a:bodyPr/>
          <a:lstStyle/>
          <a:p>
            <a:r>
              <a:rPr lang="en-US" dirty="0">
                <a:latin typeface="Avenir Book" panose="02000503020000020003" pitchFamily="2" charset="0"/>
                <a:cs typeface="Calibri" panose="020F0502020204030204" pitchFamily="34" charset="0"/>
              </a:rPr>
              <a:t>Natural Language Processing (NLP)</a:t>
            </a:r>
          </a:p>
        </p:txBody>
      </p:sp>
      <p:sp>
        <p:nvSpPr>
          <p:cNvPr id="4" name="Subtitle 2">
            <a:extLst>
              <a:ext uri="{FF2B5EF4-FFF2-40B4-BE49-F238E27FC236}">
                <a16:creationId xmlns:a16="http://schemas.microsoft.com/office/drawing/2014/main" id="{8FAA787B-2BF1-CB2B-C758-032C617AAE58}"/>
              </a:ext>
            </a:extLst>
          </p:cNvPr>
          <p:cNvSpPr txBox="1">
            <a:spLocks/>
          </p:cNvSpPr>
          <p:nvPr/>
        </p:nvSpPr>
        <p:spPr>
          <a:xfrm>
            <a:off x="829733" y="7764039"/>
            <a:ext cx="5799668" cy="743147"/>
          </a:xfrm>
          <a:prstGeom prst="rect">
            <a:avLst/>
          </a:prstGeom>
        </p:spPr>
        <p:txBody>
          <a:bodyPr vert="horz" lIns="0" tIns="0" rIns="0" bIns="0" rtlCol="0">
            <a:noAutofit/>
          </a:bodyPr>
          <a:lstStyle>
            <a:lvl1pPr marL="0" indent="0" algn="l" defTabSz="781583" rtl="0" eaLnBrk="1" latinLnBrk="0" hangingPunct="1">
              <a:lnSpc>
                <a:spcPct val="100000"/>
              </a:lnSpc>
              <a:spcBef>
                <a:spcPct val="20000"/>
              </a:spcBef>
              <a:buClr>
                <a:schemeClr val="accent2"/>
              </a:buClr>
              <a:buFontTx/>
              <a:buNone/>
              <a:defRPr sz="4800" kern="1200" baseline="0">
                <a:solidFill>
                  <a:schemeClr val="accent3"/>
                </a:solidFill>
                <a:latin typeface="+mn-lt"/>
                <a:ea typeface="+mn-ea"/>
                <a:cs typeface="+mn-cs"/>
              </a:defRPr>
            </a:lvl1pPr>
            <a:lvl2pPr marL="781583" indent="0" algn="ctr" defTabSz="781583" rtl="0" eaLnBrk="1" latinLnBrk="0" hangingPunct="1">
              <a:lnSpc>
                <a:spcPct val="110000"/>
              </a:lnSpc>
              <a:spcBef>
                <a:spcPct val="20000"/>
              </a:spcBef>
              <a:buClr>
                <a:schemeClr val="accent2"/>
              </a:buClr>
              <a:buSzPct val="75000"/>
              <a:buFont typeface="Arial"/>
              <a:buNone/>
              <a:defRPr sz="3200" kern="1200">
                <a:solidFill>
                  <a:schemeClr val="tx1">
                    <a:tint val="75000"/>
                  </a:schemeClr>
                </a:solidFill>
                <a:latin typeface="+mn-lt"/>
                <a:ea typeface="+mn-ea"/>
                <a:cs typeface="+mn-cs"/>
              </a:defRPr>
            </a:lvl2pPr>
            <a:lvl3pPr marL="1563167" indent="0" algn="ctr" defTabSz="781583" rtl="0" eaLnBrk="1" latinLnBrk="0" hangingPunct="1">
              <a:lnSpc>
                <a:spcPct val="110000"/>
              </a:lnSpc>
              <a:spcBef>
                <a:spcPct val="20000"/>
              </a:spcBef>
              <a:buClr>
                <a:schemeClr val="accent2"/>
              </a:buClr>
              <a:buSzPct val="60000"/>
              <a:buFont typeface="Wingdings" charset="2"/>
              <a:buNone/>
              <a:defRPr sz="3200" kern="1200" baseline="0">
                <a:solidFill>
                  <a:schemeClr val="tx1">
                    <a:tint val="75000"/>
                  </a:schemeClr>
                </a:solidFill>
                <a:latin typeface="+mn-lt"/>
                <a:ea typeface="+mn-ea"/>
                <a:cs typeface="+mn-cs"/>
              </a:defRPr>
            </a:lvl3pPr>
            <a:lvl4pPr marL="2344750" indent="0" algn="ctr" defTabSz="781583" rtl="0" eaLnBrk="1" latinLnBrk="0" hangingPunct="1">
              <a:lnSpc>
                <a:spcPct val="120000"/>
              </a:lnSpc>
              <a:spcBef>
                <a:spcPct val="20000"/>
              </a:spcBef>
              <a:buClr>
                <a:schemeClr val="accent2"/>
              </a:buClr>
              <a:buSzPct val="90000"/>
              <a:buFont typeface="Arial"/>
              <a:buNone/>
              <a:defRPr sz="2100" kern="1200">
                <a:solidFill>
                  <a:schemeClr val="tx1">
                    <a:tint val="75000"/>
                  </a:schemeClr>
                </a:solidFill>
                <a:latin typeface="+mn-lt"/>
                <a:ea typeface="+mn-ea"/>
                <a:cs typeface="+mn-cs"/>
              </a:defRPr>
            </a:lvl4pPr>
            <a:lvl5pPr marL="3126334" indent="0" algn="ctr" defTabSz="781583" rtl="0" eaLnBrk="1" latinLnBrk="0" hangingPunct="1">
              <a:spcBef>
                <a:spcPct val="20000"/>
              </a:spcBef>
              <a:buFont typeface="Arial"/>
              <a:buNone/>
              <a:defRPr sz="3400" kern="1200">
                <a:solidFill>
                  <a:schemeClr val="tx1">
                    <a:tint val="75000"/>
                  </a:schemeClr>
                </a:solidFill>
                <a:latin typeface="+mn-lt"/>
                <a:ea typeface="+mn-ea"/>
                <a:cs typeface="+mn-cs"/>
              </a:defRPr>
            </a:lvl5pPr>
            <a:lvl6pPr marL="3907917" indent="0" algn="ctr" defTabSz="781583" rtl="0" eaLnBrk="1" latinLnBrk="0" hangingPunct="1">
              <a:spcBef>
                <a:spcPct val="20000"/>
              </a:spcBef>
              <a:buFont typeface="Arial"/>
              <a:buNone/>
              <a:defRPr sz="3400" kern="1200">
                <a:solidFill>
                  <a:schemeClr val="tx1">
                    <a:tint val="75000"/>
                  </a:schemeClr>
                </a:solidFill>
                <a:latin typeface="+mn-lt"/>
                <a:ea typeface="+mn-ea"/>
                <a:cs typeface="+mn-cs"/>
              </a:defRPr>
            </a:lvl6pPr>
            <a:lvl7pPr marL="4689500" indent="0" algn="ctr" defTabSz="781583" rtl="0" eaLnBrk="1" latinLnBrk="0" hangingPunct="1">
              <a:spcBef>
                <a:spcPct val="20000"/>
              </a:spcBef>
              <a:buFont typeface="Arial"/>
              <a:buNone/>
              <a:defRPr sz="3400" kern="1200">
                <a:solidFill>
                  <a:schemeClr val="tx1">
                    <a:tint val="75000"/>
                  </a:schemeClr>
                </a:solidFill>
                <a:latin typeface="+mn-lt"/>
                <a:ea typeface="+mn-ea"/>
                <a:cs typeface="+mn-cs"/>
              </a:defRPr>
            </a:lvl7pPr>
            <a:lvl8pPr marL="5471084" indent="0" algn="ctr" defTabSz="781583" rtl="0" eaLnBrk="1" latinLnBrk="0" hangingPunct="1">
              <a:spcBef>
                <a:spcPct val="20000"/>
              </a:spcBef>
              <a:buFont typeface="Arial"/>
              <a:buNone/>
              <a:defRPr sz="3400" kern="1200">
                <a:solidFill>
                  <a:schemeClr val="tx1">
                    <a:tint val="75000"/>
                  </a:schemeClr>
                </a:solidFill>
                <a:latin typeface="+mn-lt"/>
                <a:ea typeface="+mn-ea"/>
                <a:cs typeface="+mn-cs"/>
              </a:defRPr>
            </a:lvl8pPr>
            <a:lvl9pPr marL="6252667" indent="0" algn="ctr" defTabSz="781583" rtl="0" eaLnBrk="1" latinLnBrk="0" hangingPunct="1">
              <a:spcBef>
                <a:spcPct val="20000"/>
              </a:spcBef>
              <a:buFont typeface="Arial"/>
              <a:buNone/>
              <a:defRPr sz="3400" kern="1200">
                <a:solidFill>
                  <a:schemeClr val="tx1">
                    <a:tint val="75000"/>
                  </a:schemeClr>
                </a:solidFill>
                <a:latin typeface="+mn-lt"/>
                <a:ea typeface="+mn-ea"/>
                <a:cs typeface="+mn-cs"/>
              </a:defRPr>
            </a:lvl9pPr>
          </a:lstStyle>
          <a:p>
            <a:r>
              <a:rPr lang="en-US" sz="4000" dirty="0">
                <a:latin typeface="Avenir Book" panose="02000503020000020003" pitchFamily="2" charset="0"/>
                <a:cs typeface="Calibri" panose="020F0502020204030204" pitchFamily="34" charset="0"/>
              </a:rPr>
              <a:t>Prof. Swapnil Kangralkar</a:t>
            </a:r>
          </a:p>
        </p:txBody>
      </p:sp>
    </p:spTree>
    <p:extLst>
      <p:ext uri="{BB962C8B-B14F-4D97-AF65-F5344CB8AC3E}">
        <p14:creationId xmlns:p14="http://schemas.microsoft.com/office/powerpoint/2010/main" val="3695813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2</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Natural Language Processing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296623"/>
            <a:ext cx="14425190" cy="5478423"/>
          </a:xfrm>
          <a:prstGeom prst="rect">
            <a:avLst/>
          </a:prstGeom>
        </p:spPr>
        <p:txBody>
          <a:bodyPr wrap="square">
            <a:spAutoFit/>
          </a:bodyPr>
          <a:lstStyle/>
          <a:p>
            <a:r>
              <a:rPr lang="en-IN" sz="3600" dirty="0">
                <a:solidFill>
                  <a:schemeClr val="accent5"/>
                </a:solidFill>
                <a:latin typeface="Avenir Book" panose="02000503020000020003" pitchFamily="2" charset="0"/>
              </a:rPr>
              <a:t>Natural language processing is a field concerned with the ability of a computer to understand, </a:t>
            </a:r>
            <a:r>
              <a:rPr lang="en-IN" sz="3600" dirty="0" err="1">
                <a:solidFill>
                  <a:schemeClr val="accent5"/>
                </a:solidFill>
                <a:latin typeface="Avenir Book" panose="02000503020000020003" pitchFamily="2" charset="0"/>
              </a:rPr>
              <a:t>analyze</a:t>
            </a:r>
            <a:r>
              <a:rPr lang="en-IN" sz="3600" dirty="0">
                <a:solidFill>
                  <a:schemeClr val="accent5"/>
                </a:solidFill>
                <a:latin typeface="Avenir Book" panose="02000503020000020003" pitchFamily="2" charset="0"/>
              </a:rPr>
              <a:t>, manipulate, and potentially generate human language.</a:t>
            </a:r>
          </a:p>
          <a:p>
            <a:endParaRPr lang="en-IN" sz="3600" u="sng" dirty="0">
              <a:solidFill>
                <a:schemeClr val="accent5"/>
              </a:solidFill>
              <a:latin typeface="Avenir Book" panose="02000503020000020003" pitchFamily="2" charset="0"/>
            </a:endParaRPr>
          </a:p>
          <a:p>
            <a:r>
              <a:rPr lang="en-IN" sz="3400" dirty="0">
                <a:solidFill>
                  <a:schemeClr val="accent5"/>
                </a:solidFill>
                <a:latin typeface="Avenir Book" panose="02000503020000020003" pitchFamily="2" charset="0"/>
              </a:rPr>
              <a:t>A few examples of NLP applications you may see on a day to day basis - </a:t>
            </a:r>
          </a:p>
          <a:p>
            <a:endParaRPr lang="en-IN" sz="3200" dirty="0">
              <a:solidFill>
                <a:schemeClr val="accent5"/>
              </a:solidFill>
              <a:latin typeface="Avenir Book" panose="02000503020000020003" pitchFamily="2" charset="0"/>
            </a:endParaRPr>
          </a:p>
          <a:p>
            <a:r>
              <a:rPr lang="en-IN" sz="3600" b="1" dirty="0">
                <a:solidFill>
                  <a:schemeClr val="accent5"/>
                </a:solidFill>
                <a:latin typeface="Avenir Book" panose="02000503020000020003" pitchFamily="2" charset="0"/>
              </a:rPr>
              <a:t>Email spam filter: </a:t>
            </a:r>
            <a:r>
              <a:rPr lang="en-IN" sz="3600" dirty="0">
                <a:solidFill>
                  <a:schemeClr val="accent5"/>
                </a:solidFill>
                <a:latin typeface="Avenir Book" panose="02000503020000020003" pitchFamily="2" charset="0"/>
              </a:rPr>
              <a:t>Whether an incoming email is spam or not, based on the content of the body, the subject, and the email domain. </a:t>
            </a:r>
          </a:p>
          <a:p>
            <a:endParaRPr lang="en-IN" sz="3200" dirty="0">
              <a:solidFill>
                <a:schemeClr val="accent5"/>
              </a:solidFill>
              <a:latin typeface="Avenir Book" panose="02000503020000020003" pitchFamily="2" charset="0"/>
            </a:endParaRPr>
          </a:p>
          <a:p>
            <a:r>
              <a:rPr lang="en-IN" sz="3600" b="1" dirty="0">
                <a:solidFill>
                  <a:schemeClr val="accent5"/>
                </a:solidFill>
                <a:latin typeface="Avenir Book" panose="02000503020000020003" pitchFamily="2" charset="0"/>
              </a:rPr>
              <a:t>Auto-complete:</a:t>
            </a:r>
            <a:r>
              <a:rPr lang="en-IN" sz="3600" dirty="0">
                <a:solidFill>
                  <a:schemeClr val="accent5"/>
                </a:solidFill>
                <a:latin typeface="Avenir Book" panose="02000503020000020003" pitchFamily="2" charset="0"/>
              </a:rPr>
              <a:t> in Google search or Gmail</a:t>
            </a:r>
          </a:p>
        </p:txBody>
      </p:sp>
    </p:spTree>
    <p:extLst>
      <p:ext uri="{BB962C8B-B14F-4D97-AF65-F5344CB8AC3E}">
        <p14:creationId xmlns:p14="http://schemas.microsoft.com/office/powerpoint/2010/main" val="156660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3</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837009"/>
            <a:ext cx="10887524" cy="694591"/>
          </a:xfrm>
        </p:spPr>
        <p:txBody>
          <a:bodyPr/>
          <a:lstStyle/>
          <a:p>
            <a:r>
              <a:rPr lang="en-US" dirty="0">
                <a:latin typeface="Avenir Book" panose="02000503020000020003" pitchFamily="2" charset="0"/>
                <a:cs typeface="Calibri" panose="020F0502020204030204" pitchFamily="34" charset="0"/>
              </a:rPr>
              <a:t>Natural Language Processing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252134"/>
            <a:ext cx="14425190" cy="5078313"/>
          </a:xfrm>
          <a:prstGeom prst="rect">
            <a:avLst/>
          </a:prstGeom>
        </p:spPr>
        <p:txBody>
          <a:bodyPr wrap="square">
            <a:spAutoFit/>
          </a:bodyPr>
          <a:lstStyle/>
          <a:p>
            <a:r>
              <a:rPr lang="en-IN" sz="3600" dirty="0">
                <a:solidFill>
                  <a:schemeClr val="accent5"/>
                </a:solidFill>
                <a:latin typeface="Avenir Book" panose="02000503020000020003" pitchFamily="2" charset="0"/>
              </a:rPr>
              <a:t>NLP involves several tasks, including text classification, named entity recognition, sentiment analysis, language translation, speech recognition, and text summarization.</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It uses various techniques such as machine learning, deep learning, and statistical methods to </a:t>
            </a:r>
            <a:r>
              <a:rPr lang="en-IN" sz="3600" dirty="0" err="1">
                <a:solidFill>
                  <a:schemeClr val="accent5"/>
                </a:solidFill>
                <a:latin typeface="Avenir Book" panose="02000503020000020003" pitchFamily="2" charset="0"/>
              </a:rPr>
              <a:t>analyze</a:t>
            </a:r>
            <a:r>
              <a:rPr lang="en-IN" sz="3600" dirty="0">
                <a:solidFill>
                  <a:schemeClr val="accent5"/>
                </a:solidFill>
                <a:latin typeface="Avenir Book" panose="02000503020000020003" pitchFamily="2" charset="0"/>
              </a:rPr>
              <a:t> and process language data.</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NLP applications are used in a variety of industries, including healthcare, finance, customer service, and e-commerce.</a:t>
            </a:r>
          </a:p>
        </p:txBody>
      </p:sp>
    </p:spTree>
    <p:extLst>
      <p:ext uri="{BB962C8B-B14F-4D97-AF65-F5344CB8AC3E}">
        <p14:creationId xmlns:p14="http://schemas.microsoft.com/office/powerpoint/2010/main" val="296718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4</a:t>
            </a:fld>
            <a:endParaRPr lang="en-US" dirty="0"/>
          </a:p>
        </p:txBody>
      </p:sp>
      <p:sp>
        <p:nvSpPr>
          <p:cNvPr id="2" name="Rectangle 1">
            <a:extLst>
              <a:ext uri="{FF2B5EF4-FFF2-40B4-BE49-F238E27FC236}">
                <a16:creationId xmlns:a16="http://schemas.microsoft.com/office/drawing/2014/main" id="{4411BE6E-4EC2-3142-AF79-C8D8102DF362}"/>
              </a:ext>
            </a:extLst>
          </p:cNvPr>
          <p:cNvSpPr/>
          <p:nvPr/>
        </p:nvSpPr>
        <p:spPr>
          <a:xfrm>
            <a:off x="980462" y="2529292"/>
            <a:ext cx="14629652" cy="5078313"/>
          </a:xfrm>
          <a:prstGeom prst="rect">
            <a:avLst/>
          </a:prstGeom>
        </p:spPr>
        <p:txBody>
          <a:bodyPr wrap="square">
            <a:spAutoFit/>
          </a:bodyPr>
          <a:lstStyle/>
          <a:p>
            <a:r>
              <a:rPr lang="en-IN" sz="3600" dirty="0">
                <a:solidFill>
                  <a:schemeClr val="accent5"/>
                </a:solidFill>
                <a:latin typeface="Avenir Book" panose="02000503020000020003" pitchFamily="2" charset="0"/>
              </a:rPr>
              <a:t>The natural language toolkit (NLTK) is the most utilized package for handling natural language processing tasks in Python.</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NLTK provides tools and resources for tasks such as tokenization, stemming, tagging, parsing, and sentiment analysis.</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NLTK includes a suite of datasets and corpora for training and testing NLP models.</a:t>
            </a:r>
          </a:p>
          <a:p>
            <a:endParaRPr lang="en-IN" sz="3600" dirty="0">
              <a:solidFill>
                <a:schemeClr val="accent5"/>
              </a:solidFill>
              <a:latin typeface="Avenir Book" panose="02000503020000020003" pitchFamily="2" charset="0"/>
            </a:endParaRPr>
          </a:p>
        </p:txBody>
      </p:sp>
      <p:sp>
        <p:nvSpPr>
          <p:cNvPr id="4" name="Title 5">
            <a:extLst>
              <a:ext uri="{FF2B5EF4-FFF2-40B4-BE49-F238E27FC236}">
                <a16:creationId xmlns:a16="http://schemas.microsoft.com/office/drawing/2014/main" id="{9DDF59E3-2141-7148-AC98-CF840312968F}"/>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Python Tools for NLP</a:t>
            </a:r>
          </a:p>
        </p:txBody>
      </p:sp>
    </p:spTree>
    <p:extLst>
      <p:ext uri="{BB962C8B-B14F-4D97-AF65-F5344CB8AC3E}">
        <p14:creationId xmlns:p14="http://schemas.microsoft.com/office/powerpoint/2010/main" val="35779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5</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3081769"/>
            <a:ext cx="6215468" cy="2554545"/>
          </a:xfrm>
          <a:prstGeom prst="rect">
            <a:avLst/>
          </a:prstGeom>
        </p:spPr>
        <p:txBody>
          <a:bodyPr wrap="square">
            <a:spAutoFit/>
          </a:bodyPr>
          <a:lstStyle/>
          <a:p>
            <a:r>
              <a:rPr lang="en-IN" sz="4000" dirty="0">
                <a:solidFill>
                  <a:schemeClr val="accent5"/>
                </a:solidFill>
                <a:latin typeface="Avenir Book" panose="02000503020000020003" pitchFamily="2" charset="0"/>
              </a:rPr>
              <a:t>Text lowercase:</a:t>
            </a:r>
          </a:p>
          <a:p>
            <a:endParaRPr lang="en-IN" sz="4000" dirty="0">
              <a:solidFill>
                <a:schemeClr val="accent5"/>
              </a:solidFill>
              <a:latin typeface="Avenir Book" panose="02000503020000020003" pitchFamily="2" charset="0"/>
            </a:endParaRPr>
          </a:p>
          <a:p>
            <a:pPr marL="742950" indent="-742950">
              <a:buAutoNum type="arabicPeriod"/>
            </a:pPr>
            <a:r>
              <a:rPr lang="en-IN" sz="4000" dirty="0">
                <a:solidFill>
                  <a:schemeClr val="accent5"/>
                </a:solidFill>
                <a:latin typeface="Avenir Book" panose="02000503020000020003" pitchFamily="2" charset="0"/>
              </a:rPr>
              <a:t>Consistency</a:t>
            </a:r>
          </a:p>
          <a:p>
            <a:pPr marL="742950" indent="-742950">
              <a:buAutoNum type="arabicPeriod"/>
            </a:pPr>
            <a:r>
              <a:rPr lang="en-IN" sz="4000" dirty="0">
                <a:solidFill>
                  <a:schemeClr val="accent5"/>
                </a:solidFill>
                <a:latin typeface="Avenir Book" panose="02000503020000020003" pitchFamily="2" charset="0"/>
              </a:rPr>
              <a:t>Vocabulary Reduction</a:t>
            </a: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extLst>
              <p:ext uri="{D42A27DB-BD31-4B8C-83A1-F6EECF244321}">
                <p14:modId xmlns:p14="http://schemas.microsoft.com/office/powerpoint/2010/main" val="2246092638"/>
              </p:ext>
            </p:extLst>
          </p:nvPr>
        </p:nvGraphicFramePr>
        <p:xfrm>
          <a:off x="7712765" y="3526213"/>
          <a:ext cx="7851914" cy="2110101"/>
        </p:xfrm>
        <a:graphic>
          <a:graphicData uri="http://schemas.openxmlformats.org/drawingml/2006/table">
            <a:tbl>
              <a:tblPr firstRow="1" bandRow="1">
                <a:tableStyleId>{5C22544A-7EE6-4342-B048-85BDC9FD1C3A}</a:tableStyleId>
              </a:tblPr>
              <a:tblGrid>
                <a:gridCol w="3925957">
                  <a:extLst>
                    <a:ext uri="{9D8B030D-6E8A-4147-A177-3AD203B41FA5}">
                      <a16:colId xmlns:a16="http://schemas.microsoft.com/office/drawing/2014/main" val="2087324451"/>
                    </a:ext>
                  </a:extLst>
                </a:gridCol>
                <a:gridCol w="3925957">
                  <a:extLst>
                    <a:ext uri="{9D8B030D-6E8A-4147-A177-3AD203B41FA5}">
                      <a16:colId xmlns:a16="http://schemas.microsoft.com/office/drawing/2014/main" val="4098943428"/>
                    </a:ext>
                  </a:extLst>
                </a:gridCol>
              </a:tblGrid>
              <a:tr h="2110101">
                <a:tc>
                  <a:txBody>
                    <a:bodyPr/>
                    <a:lstStyle/>
                    <a:p>
                      <a:pPr algn="ctr"/>
                      <a:r>
                        <a:rPr lang="en-US" sz="3200" kern="1200" dirty="0">
                          <a:solidFill>
                            <a:schemeClr val="accent5"/>
                          </a:solidFill>
                          <a:latin typeface="Avenir Book" panose="02000503020000020003" pitchFamily="2" charset="0"/>
                          <a:ea typeface="+mn-ea"/>
                          <a:cs typeface="+mn-cs"/>
                        </a:rPr>
                        <a:t>Canada</a:t>
                      </a:r>
                    </a:p>
                    <a:p>
                      <a:pPr algn="ctr"/>
                      <a:r>
                        <a:rPr lang="en-US" sz="3200" kern="1200" dirty="0" err="1">
                          <a:solidFill>
                            <a:schemeClr val="accent5"/>
                          </a:solidFill>
                          <a:latin typeface="Avenir Book" panose="02000503020000020003" pitchFamily="2" charset="0"/>
                          <a:ea typeface="+mn-ea"/>
                          <a:cs typeface="+mn-cs"/>
                        </a:rPr>
                        <a:t>canadA</a:t>
                      </a:r>
                      <a:endParaRPr lang="en-US" sz="3200" kern="1200" dirty="0">
                        <a:solidFill>
                          <a:schemeClr val="accent5"/>
                        </a:solidFill>
                        <a:latin typeface="Avenir Book" panose="02000503020000020003" pitchFamily="2" charset="0"/>
                        <a:ea typeface="+mn-ea"/>
                        <a:cs typeface="+mn-cs"/>
                      </a:endParaRPr>
                    </a:p>
                    <a:p>
                      <a:pPr algn="ctr"/>
                      <a:r>
                        <a:rPr lang="en-US" sz="3200" kern="1200" dirty="0" err="1">
                          <a:solidFill>
                            <a:schemeClr val="accent5"/>
                          </a:solidFill>
                          <a:latin typeface="Avenir Book" panose="02000503020000020003" pitchFamily="2" charset="0"/>
                          <a:ea typeface="+mn-ea"/>
                          <a:cs typeface="+mn-cs"/>
                        </a:rPr>
                        <a:t>CAnada</a:t>
                      </a:r>
                      <a:endParaRPr lang="en-US" sz="3200" kern="1200" dirty="0">
                        <a:solidFill>
                          <a:schemeClr val="accent5"/>
                        </a:solidFill>
                        <a:latin typeface="Avenir Book" panose="02000503020000020003" pitchFamily="2" charset="0"/>
                        <a:ea typeface="+mn-ea"/>
                        <a:cs typeface="+mn-cs"/>
                      </a:endParaRPr>
                    </a:p>
                  </a:txBody>
                  <a:tcPr anchor="ctr">
                    <a:solidFill>
                      <a:schemeClr val="accent6">
                        <a:lumMod val="60000"/>
                        <a:lumOff val="40000"/>
                      </a:schemeClr>
                    </a:solidFill>
                  </a:tcPr>
                </a:tc>
                <a:tc>
                  <a:txBody>
                    <a:bodyPr/>
                    <a:lstStyle/>
                    <a:p>
                      <a:pPr algn="ctr"/>
                      <a:r>
                        <a:rPr lang="en-US" sz="3200" b="1" kern="1200" dirty="0" err="1">
                          <a:solidFill>
                            <a:schemeClr val="accent5"/>
                          </a:solidFill>
                          <a:latin typeface="Avenir Book" panose="02000503020000020003" pitchFamily="2" charset="0"/>
                          <a:ea typeface="+mn-ea"/>
                          <a:cs typeface="+mn-cs"/>
                        </a:rPr>
                        <a:t>canada</a:t>
                      </a:r>
                      <a:endParaRPr lang="en-US" sz="3200" b="1" kern="1200" dirty="0">
                        <a:solidFill>
                          <a:schemeClr val="accent5"/>
                        </a:solidFill>
                        <a:latin typeface="Avenir Book" panose="02000503020000020003" pitchFamily="2" charset="0"/>
                        <a:ea typeface="+mn-ea"/>
                        <a:cs typeface="+mn-cs"/>
                      </a:endParaRPr>
                    </a:p>
                  </a:txBody>
                  <a:tcPr anchor="ctr">
                    <a:solidFill>
                      <a:srgbClr val="92D050"/>
                    </a:solidFill>
                  </a:tcPr>
                </a:tc>
                <a:extLst>
                  <a:ext uri="{0D108BD9-81ED-4DB2-BD59-A6C34878D82A}">
                    <a16:rowId xmlns:a16="http://schemas.microsoft.com/office/drawing/2014/main" val="1665022550"/>
                  </a:ext>
                </a:extLst>
              </a:tr>
            </a:tbl>
          </a:graphicData>
        </a:graphic>
      </p:graphicFrame>
    </p:spTree>
    <p:extLst>
      <p:ext uri="{BB962C8B-B14F-4D97-AF65-F5344CB8AC3E}">
        <p14:creationId xmlns:p14="http://schemas.microsoft.com/office/powerpoint/2010/main" val="3550631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6</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3081769"/>
            <a:ext cx="6215468" cy="2554545"/>
          </a:xfrm>
          <a:prstGeom prst="rect">
            <a:avLst/>
          </a:prstGeom>
        </p:spPr>
        <p:txBody>
          <a:bodyPr wrap="square">
            <a:spAutoFit/>
          </a:bodyPr>
          <a:lstStyle/>
          <a:p>
            <a:r>
              <a:rPr lang="en-IN" sz="4000" dirty="0">
                <a:solidFill>
                  <a:schemeClr val="accent5"/>
                </a:solidFill>
                <a:latin typeface="Avenir Book" panose="02000503020000020003" pitchFamily="2" charset="0"/>
              </a:rPr>
              <a:t>Text lowercase:</a:t>
            </a:r>
          </a:p>
          <a:p>
            <a:endParaRPr lang="en-IN" sz="4000" dirty="0">
              <a:solidFill>
                <a:schemeClr val="accent5"/>
              </a:solidFill>
              <a:latin typeface="Avenir Book" panose="02000503020000020003" pitchFamily="2" charset="0"/>
            </a:endParaRPr>
          </a:p>
          <a:p>
            <a:pPr marL="742950" indent="-742950">
              <a:buAutoNum type="arabicPeriod"/>
            </a:pPr>
            <a:r>
              <a:rPr lang="en-IN" sz="4000" dirty="0">
                <a:solidFill>
                  <a:schemeClr val="accent5"/>
                </a:solidFill>
                <a:latin typeface="Avenir Book" panose="02000503020000020003" pitchFamily="2" charset="0"/>
              </a:rPr>
              <a:t>Consistency</a:t>
            </a:r>
          </a:p>
          <a:p>
            <a:pPr marL="742950" indent="-742950">
              <a:buAutoNum type="arabicPeriod"/>
            </a:pPr>
            <a:r>
              <a:rPr lang="en-IN" sz="4000" dirty="0">
                <a:solidFill>
                  <a:schemeClr val="accent5"/>
                </a:solidFill>
                <a:latin typeface="Avenir Book" panose="02000503020000020003" pitchFamily="2" charset="0"/>
              </a:rPr>
              <a:t>Vocabulary Reduction</a:t>
            </a: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nvGraphicFramePr>
        <p:xfrm>
          <a:off x="7712765" y="3526213"/>
          <a:ext cx="7851914" cy="2110101"/>
        </p:xfrm>
        <a:graphic>
          <a:graphicData uri="http://schemas.openxmlformats.org/drawingml/2006/table">
            <a:tbl>
              <a:tblPr firstRow="1" bandRow="1">
                <a:tableStyleId>{5C22544A-7EE6-4342-B048-85BDC9FD1C3A}</a:tableStyleId>
              </a:tblPr>
              <a:tblGrid>
                <a:gridCol w="3925957">
                  <a:extLst>
                    <a:ext uri="{9D8B030D-6E8A-4147-A177-3AD203B41FA5}">
                      <a16:colId xmlns:a16="http://schemas.microsoft.com/office/drawing/2014/main" val="2087324451"/>
                    </a:ext>
                  </a:extLst>
                </a:gridCol>
                <a:gridCol w="3925957">
                  <a:extLst>
                    <a:ext uri="{9D8B030D-6E8A-4147-A177-3AD203B41FA5}">
                      <a16:colId xmlns:a16="http://schemas.microsoft.com/office/drawing/2014/main" val="4098943428"/>
                    </a:ext>
                  </a:extLst>
                </a:gridCol>
              </a:tblGrid>
              <a:tr h="2110101">
                <a:tc>
                  <a:txBody>
                    <a:bodyPr/>
                    <a:lstStyle/>
                    <a:p>
                      <a:pPr algn="ctr"/>
                      <a:r>
                        <a:rPr lang="en-US" sz="3200" kern="1200" dirty="0">
                          <a:solidFill>
                            <a:schemeClr val="accent5"/>
                          </a:solidFill>
                          <a:latin typeface="Avenir Book" panose="02000503020000020003" pitchFamily="2" charset="0"/>
                          <a:ea typeface="+mn-ea"/>
                          <a:cs typeface="+mn-cs"/>
                        </a:rPr>
                        <a:t>Canada</a:t>
                      </a:r>
                    </a:p>
                    <a:p>
                      <a:pPr algn="ctr"/>
                      <a:r>
                        <a:rPr lang="en-US" sz="3200" kern="1200" dirty="0" err="1">
                          <a:solidFill>
                            <a:schemeClr val="accent5"/>
                          </a:solidFill>
                          <a:latin typeface="Avenir Book" panose="02000503020000020003" pitchFamily="2" charset="0"/>
                          <a:ea typeface="+mn-ea"/>
                          <a:cs typeface="+mn-cs"/>
                        </a:rPr>
                        <a:t>canadA</a:t>
                      </a:r>
                      <a:endParaRPr lang="en-US" sz="3200" kern="1200" dirty="0">
                        <a:solidFill>
                          <a:schemeClr val="accent5"/>
                        </a:solidFill>
                        <a:latin typeface="Avenir Book" panose="02000503020000020003" pitchFamily="2" charset="0"/>
                        <a:ea typeface="+mn-ea"/>
                        <a:cs typeface="+mn-cs"/>
                      </a:endParaRPr>
                    </a:p>
                    <a:p>
                      <a:pPr algn="ctr"/>
                      <a:r>
                        <a:rPr lang="en-US" sz="3200" kern="1200" dirty="0" err="1">
                          <a:solidFill>
                            <a:schemeClr val="accent5"/>
                          </a:solidFill>
                          <a:latin typeface="Avenir Book" panose="02000503020000020003" pitchFamily="2" charset="0"/>
                          <a:ea typeface="+mn-ea"/>
                          <a:cs typeface="+mn-cs"/>
                        </a:rPr>
                        <a:t>CAnada</a:t>
                      </a:r>
                      <a:endParaRPr lang="en-US" sz="3200" kern="1200" dirty="0">
                        <a:solidFill>
                          <a:schemeClr val="accent5"/>
                        </a:solidFill>
                        <a:latin typeface="Avenir Book" panose="02000503020000020003" pitchFamily="2" charset="0"/>
                        <a:ea typeface="+mn-ea"/>
                        <a:cs typeface="+mn-cs"/>
                      </a:endParaRPr>
                    </a:p>
                  </a:txBody>
                  <a:tcPr anchor="ctr">
                    <a:solidFill>
                      <a:schemeClr val="accent6">
                        <a:lumMod val="60000"/>
                        <a:lumOff val="40000"/>
                      </a:schemeClr>
                    </a:solidFill>
                  </a:tcPr>
                </a:tc>
                <a:tc>
                  <a:txBody>
                    <a:bodyPr/>
                    <a:lstStyle/>
                    <a:p>
                      <a:pPr algn="ctr"/>
                      <a:r>
                        <a:rPr lang="en-US" sz="3200" b="1" kern="1200" dirty="0" err="1">
                          <a:solidFill>
                            <a:schemeClr val="accent5"/>
                          </a:solidFill>
                          <a:latin typeface="Avenir Book" panose="02000503020000020003" pitchFamily="2" charset="0"/>
                          <a:ea typeface="+mn-ea"/>
                          <a:cs typeface="+mn-cs"/>
                        </a:rPr>
                        <a:t>canada</a:t>
                      </a:r>
                      <a:endParaRPr lang="en-US" sz="3200" b="1" kern="1200" dirty="0">
                        <a:solidFill>
                          <a:schemeClr val="accent5"/>
                        </a:solidFill>
                        <a:latin typeface="Avenir Book" panose="02000503020000020003" pitchFamily="2" charset="0"/>
                        <a:ea typeface="+mn-ea"/>
                        <a:cs typeface="+mn-cs"/>
                      </a:endParaRPr>
                    </a:p>
                  </a:txBody>
                  <a:tcPr anchor="ctr">
                    <a:solidFill>
                      <a:srgbClr val="92D050"/>
                    </a:solidFill>
                  </a:tcPr>
                </a:tc>
                <a:extLst>
                  <a:ext uri="{0D108BD9-81ED-4DB2-BD59-A6C34878D82A}">
                    <a16:rowId xmlns:a16="http://schemas.microsoft.com/office/drawing/2014/main" val="1665022550"/>
                  </a:ext>
                </a:extLst>
              </a:tr>
            </a:tbl>
          </a:graphicData>
        </a:graphic>
      </p:graphicFrame>
    </p:spTree>
    <p:extLst>
      <p:ext uri="{BB962C8B-B14F-4D97-AF65-F5344CB8AC3E}">
        <p14:creationId xmlns:p14="http://schemas.microsoft.com/office/powerpoint/2010/main" val="1258916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7</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213969"/>
            <a:ext cx="13192738" cy="769441"/>
          </a:xfrm>
          <a:prstGeom prst="rect">
            <a:avLst/>
          </a:prstGeom>
        </p:spPr>
        <p:txBody>
          <a:bodyPr wrap="square">
            <a:spAutoFit/>
          </a:bodyPr>
          <a:lstStyle/>
          <a:p>
            <a:r>
              <a:rPr lang="en-IN" sz="4400" dirty="0">
                <a:solidFill>
                  <a:schemeClr val="accent5"/>
                </a:solidFill>
                <a:latin typeface="Avenir Book" panose="02000503020000020003" pitchFamily="2" charset="0"/>
              </a:rPr>
              <a:t>Remove punctuations and special characters</a:t>
            </a: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extLst>
              <p:ext uri="{D42A27DB-BD31-4B8C-83A1-F6EECF244321}">
                <p14:modId xmlns:p14="http://schemas.microsoft.com/office/powerpoint/2010/main" val="277174644"/>
              </p:ext>
            </p:extLst>
          </p:nvPr>
        </p:nvGraphicFramePr>
        <p:xfrm>
          <a:off x="2772771" y="3745230"/>
          <a:ext cx="9608120" cy="2524538"/>
        </p:xfrm>
        <a:graphic>
          <a:graphicData uri="http://schemas.openxmlformats.org/drawingml/2006/table">
            <a:tbl>
              <a:tblPr firstRow="1" bandRow="1">
                <a:tableStyleId>{5C22544A-7EE6-4342-B048-85BDC9FD1C3A}</a:tableStyleId>
              </a:tblPr>
              <a:tblGrid>
                <a:gridCol w="4804060">
                  <a:extLst>
                    <a:ext uri="{9D8B030D-6E8A-4147-A177-3AD203B41FA5}">
                      <a16:colId xmlns:a16="http://schemas.microsoft.com/office/drawing/2014/main" val="2087324451"/>
                    </a:ext>
                  </a:extLst>
                </a:gridCol>
                <a:gridCol w="4804060">
                  <a:extLst>
                    <a:ext uri="{9D8B030D-6E8A-4147-A177-3AD203B41FA5}">
                      <a16:colId xmlns:a16="http://schemas.microsoft.com/office/drawing/2014/main" val="4098943428"/>
                    </a:ext>
                  </a:extLst>
                </a:gridCol>
              </a:tblGrid>
              <a:tr h="2524538">
                <a:tc>
                  <a:txBody>
                    <a:bodyPr/>
                    <a:lstStyle/>
                    <a:p>
                      <a:pPr algn="ctr"/>
                      <a:r>
                        <a:rPr lang="en-US" sz="3200" b="0" kern="1200" dirty="0">
                          <a:solidFill>
                            <a:schemeClr val="accent5"/>
                          </a:solidFill>
                          <a:latin typeface="Avenir Book" panose="02000503020000020003" pitchFamily="2" charset="0"/>
                          <a:ea typeface="+mn-ea"/>
                          <a:cs typeface="+mn-cs"/>
                        </a:rPr>
                        <a:t>The quick, brown fox jumps over the lazy dog!</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chemeClr val="accent6">
                        <a:lumMod val="60000"/>
                        <a:lumOff val="40000"/>
                      </a:schemeClr>
                    </a:solidFill>
                  </a:tcPr>
                </a:tc>
                <a:tc>
                  <a:txBody>
                    <a:bodyPr/>
                    <a:lstStyle/>
                    <a:p>
                      <a:pPr marL="0" marR="0" lvl="0" indent="0" algn="ctr" defTabSz="781583" rtl="0" eaLnBrk="1" fontAlgn="auto" latinLnBrk="0" hangingPunct="1">
                        <a:lnSpc>
                          <a:spcPct val="100000"/>
                        </a:lnSpc>
                        <a:spcBef>
                          <a:spcPts val="0"/>
                        </a:spcBef>
                        <a:spcAft>
                          <a:spcPts val="0"/>
                        </a:spcAft>
                        <a:buClrTx/>
                        <a:buSzTx/>
                        <a:buFontTx/>
                        <a:buNone/>
                        <a:tabLst/>
                        <a:defRPr/>
                      </a:pPr>
                      <a:r>
                        <a:rPr lang="en-IN" sz="3200" b="0" kern="1200" dirty="0">
                          <a:solidFill>
                            <a:schemeClr val="accent5"/>
                          </a:solidFill>
                          <a:latin typeface="Avenir Book" panose="02000503020000020003" pitchFamily="2" charset="0"/>
                          <a:ea typeface="+mn-ea"/>
                          <a:cs typeface="+mn-cs"/>
                        </a:rPr>
                        <a:t>The quick brown fox jumps over the lazy dog</a:t>
                      </a:r>
                      <a:endParaRPr lang="en-US" sz="3200" b="0" kern="1200" dirty="0">
                        <a:solidFill>
                          <a:schemeClr val="accent5"/>
                        </a:solidFill>
                        <a:latin typeface="Avenir Book" panose="02000503020000020003" pitchFamily="2" charset="0"/>
                        <a:ea typeface="+mn-ea"/>
                        <a:cs typeface="+mn-cs"/>
                      </a:endParaRPr>
                    </a:p>
                  </a:txBody>
                  <a:tcPr marL="109400" marR="109400" marT="54700" marB="54700" anchor="ctr">
                    <a:solidFill>
                      <a:srgbClr val="92D050"/>
                    </a:solidFill>
                  </a:tcPr>
                </a:tc>
                <a:extLst>
                  <a:ext uri="{0D108BD9-81ED-4DB2-BD59-A6C34878D82A}">
                    <a16:rowId xmlns:a16="http://schemas.microsoft.com/office/drawing/2014/main" val="1665022550"/>
                  </a:ext>
                </a:extLst>
              </a:tr>
            </a:tbl>
          </a:graphicData>
        </a:graphic>
      </p:graphicFrame>
      <p:sp>
        <p:nvSpPr>
          <p:cNvPr id="3" name="Rectangle 2">
            <a:extLst>
              <a:ext uri="{FF2B5EF4-FFF2-40B4-BE49-F238E27FC236}">
                <a16:creationId xmlns:a16="http://schemas.microsoft.com/office/drawing/2014/main" id="{630BDC91-8180-084E-81AD-74B4B1E84CA5}"/>
              </a:ext>
            </a:extLst>
          </p:cNvPr>
          <p:cNvSpPr/>
          <p:nvPr/>
        </p:nvSpPr>
        <p:spPr>
          <a:xfrm>
            <a:off x="728214" y="7031588"/>
            <a:ext cx="14558170" cy="954107"/>
          </a:xfrm>
          <a:prstGeom prst="rect">
            <a:avLst/>
          </a:prstGeom>
        </p:spPr>
        <p:txBody>
          <a:bodyPr wrap="square">
            <a:spAutoFit/>
          </a:bodyPr>
          <a:lstStyle/>
          <a:p>
            <a:r>
              <a:rPr lang="en-IN" sz="2800" dirty="0">
                <a:solidFill>
                  <a:schemeClr val="accent5"/>
                </a:solidFill>
                <a:latin typeface="Avenir Book" panose="02000503020000020003" pitchFamily="2" charset="0"/>
              </a:rPr>
              <a:t>Punctuations or special characters are all characters except digits and alphabets. List of all available special characters are [!"#$%&amp;'()*+,-./:;&lt;=&gt;?@[\]^_`{|}~].  </a:t>
            </a:r>
          </a:p>
        </p:txBody>
      </p:sp>
    </p:spTree>
    <p:extLst>
      <p:ext uri="{BB962C8B-B14F-4D97-AF65-F5344CB8AC3E}">
        <p14:creationId xmlns:p14="http://schemas.microsoft.com/office/powerpoint/2010/main" val="3826224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8</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1119610" y="4227320"/>
            <a:ext cx="6215468" cy="707886"/>
          </a:xfrm>
          <a:prstGeom prst="rect">
            <a:avLst/>
          </a:prstGeom>
        </p:spPr>
        <p:txBody>
          <a:bodyPr wrap="square">
            <a:spAutoFit/>
          </a:bodyPr>
          <a:lstStyle/>
          <a:p>
            <a:r>
              <a:rPr lang="en-IN" sz="4000" dirty="0">
                <a:solidFill>
                  <a:schemeClr val="accent5"/>
                </a:solidFill>
                <a:latin typeface="Avenir Book" panose="02000503020000020003" pitchFamily="2" charset="0"/>
              </a:rPr>
              <a:t>Numbers to words:</a:t>
            </a: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nvGraphicFramePr>
        <p:xfrm>
          <a:off x="5956558" y="3021497"/>
          <a:ext cx="9608120" cy="2524538"/>
        </p:xfrm>
        <a:graphic>
          <a:graphicData uri="http://schemas.openxmlformats.org/drawingml/2006/table">
            <a:tbl>
              <a:tblPr firstRow="1" bandRow="1">
                <a:tableStyleId>{5C22544A-7EE6-4342-B048-85BDC9FD1C3A}</a:tableStyleId>
              </a:tblPr>
              <a:tblGrid>
                <a:gridCol w="4804060">
                  <a:extLst>
                    <a:ext uri="{9D8B030D-6E8A-4147-A177-3AD203B41FA5}">
                      <a16:colId xmlns:a16="http://schemas.microsoft.com/office/drawing/2014/main" val="2087324451"/>
                    </a:ext>
                  </a:extLst>
                </a:gridCol>
                <a:gridCol w="4804060">
                  <a:extLst>
                    <a:ext uri="{9D8B030D-6E8A-4147-A177-3AD203B41FA5}">
                      <a16:colId xmlns:a16="http://schemas.microsoft.com/office/drawing/2014/main" val="4098943428"/>
                    </a:ext>
                  </a:extLst>
                </a:gridCol>
              </a:tblGrid>
              <a:tr h="2524538">
                <a:tc>
                  <a:txBody>
                    <a:bodyPr/>
                    <a:lstStyle/>
                    <a:p>
                      <a:pPr algn="ctr"/>
                      <a:r>
                        <a:rPr lang="en-US" sz="3200" b="0" kern="1200" dirty="0">
                          <a:solidFill>
                            <a:schemeClr val="accent5"/>
                          </a:solidFill>
                          <a:latin typeface="Avenir Book" panose="02000503020000020003" pitchFamily="2" charset="0"/>
                          <a:ea typeface="+mn-ea"/>
                          <a:cs typeface="+mn-cs"/>
                        </a:rPr>
                        <a:t>I have </a:t>
                      </a:r>
                      <a:r>
                        <a:rPr lang="en-US" sz="3200" b="1" kern="1200" dirty="0">
                          <a:solidFill>
                            <a:schemeClr val="accent5"/>
                          </a:solidFill>
                          <a:latin typeface="Avenir Book" panose="02000503020000020003" pitchFamily="2" charset="0"/>
                          <a:ea typeface="+mn-ea"/>
                          <a:cs typeface="+mn-cs"/>
                        </a:rPr>
                        <a:t>5</a:t>
                      </a:r>
                      <a:r>
                        <a:rPr lang="en-US" sz="3200" b="0" kern="1200" dirty="0">
                          <a:solidFill>
                            <a:schemeClr val="accent5"/>
                          </a:solidFill>
                          <a:latin typeface="Avenir Book" panose="02000503020000020003" pitchFamily="2" charset="0"/>
                          <a:ea typeface="+mn-ea"/>
                          <a:cs typeface="+mn-cs"/>
                        </a:rPr>
                        <a:t> courses in level </a:t>
                      </a:r>
                      <a:r>
                        <a:rPr lang="en-US" sz="3200" b="1" kern="1200" dirty="0">
                          <a:solidFill>
                            <a:schemeClr val="accent5"/>
                          </a:solidFill>
                          <a:latin typeface="Avenir Book" panose="02000503020000020003" pitchFamily="2" charset="0"/>
                          <a:ea typeface="+mn-ea"/>
                          <a:cs typeface="+mn-cs"/>
                        </a:rPr>
                        <a:t>1</a:t>
                      </a:r>
                      <a:r>
                        <a:rPr lang="en-US" sz="3200" b="0" kern="1200" dirty="0">
                          <a:solidFill>
                            <a:schemeClr val="accent5"/>
                          </a:solidFill>
                          <a:latin typeface="Avenir Book" panose="02000503020000020003" pitchFamily="2" charset="0"/>
                          <a:ea typeface="+mn-ea"/>
                          <a:cs typeface="+mn-cs"/>
                        </a:rPr>
                        <a:t> and </a:t>
                      </a:r>
                      <a:r>
                        <a:rPr lang="en-US" sz="3200" b="1" kern="1200" dirty="0">
                          <a:solidFill>
                            <a:schemeClr val="accent5"/>
                          </a:solidFill>
                          <a:latin typeface="Avenir Book" panose="02000503020000020003" pitchFamily="2" charset="0"/>
                          <a:ea typeface="+mn-ea"/>
                          <a:cs typeface="+mn-cs"/>
                        </a:rPr>
                        <a:t>7</a:t>
                      </a:r>
                      <a:r>
                        <a:rPr lang="en-US" sz="3200" b="0" kern="1200" dirty="0">
                          <a:solidFill>
                            <a:schemeClr val="accent5"/>
                          </a:solidFill>
                          <a:latin typeface="Avenir Book" panose="02000503020000020003" pitchFamily="2" charset="0"/>
                          <a:ea typeface="+mn-ea"/>
                          <a:cs typeface="+mn-cs"/>
                        </a:rPr>
                        <a:t> courses in level </a:t>
                      </a:r>
                      <a:r>
                        <a:rPr lang="en-US" sz="3200" b="1" kern="1200" dirty="0">
                          <a:solidFill>
                            <a:schemeClr val="accent5"/>
                          </a:solidFill>
                          <a:latin typeface="Avenir Book" panose="02000503020000020003" pitchFamily="2" charset="0"/>
                          <a:ea typeface="+mn-ea"/>
                          <a:cs typeface="+mn-cs"/>
                        </a:rPr>
                        <a:t>2</a:t>
                      </a:r>
                    </a:p>
                  </a:txBody>
                  <a:tcPr marL="109400" marR="109400" marT="54700" marB="54700" anchor="ctr">
                    <a:solidFill>
                      <a:schemeClr val="accent6">
                        <a:lumMod val="60000"/>
                        <a:lumOff val="40000"/>
                      </a:schemeClr>
                    </a:solidFill>
                  </a:tcPr>
                </a:tc>
                <a:tc>
                  <a:txBody>
                    <a:bodyPr/>
                    <a:lstStyle/>
                    <a:p>
                      <a:pPr marL="0" marR="0" lvl="0" indent="0" algn="ctr" defTabSz="781583" rtl="0" eaLnBrk="1" fontAlgn="auto" latinLnBrk="0" hangingPunct="1">
                        <a:lnSpc>
                          <a:spcPct val="100000"/>
                        </a:lnSpc>
                        <a:spcBef>
                          <a:spcPts val="0"/>
                        </a:spcBef>
                        <a:spcAft>
                          <a:spcPts val="0"/>
                        </a:spcAft>
                        <a:buClrTx/>
                        <a:buSzTx/>
                        <a:buFontTx/>
                        <a:buNone/>
                        <a:tabLst/>
                        <a:defRPr/>
                      </a:pPr>
                      <a:r>
                        <a:rPr lang="en-US" sz="3200" b="0" kern="1200" dirty="0">
                          <a:solidFill>
                            <a:schemeClr val="accent5"/>
                          </a:solidFill>
                          <a:latin typeface="Avenir Book" panose="02000503020000020003" pitchFamily="2" charset="0"/>
                          <a:ea typeface="+mn-ea"/>
                          <a:cs typeface="+mn-cs"/>
                        </a:rPr>
                        <a:t>I have </a:t>
                      </a:r>
                      <a:r>
                        <a:rPr lang="en-US" sz="3200" b="1" kern="1200" dirty="0">
                          <a:solidFill>
                            <a:schemeClr val="accent5"/>
                          </a:solidFill>
                          <a:latin typeface="Avenir Book" panose="02000503020000020003" pitchFamily="2" charset="0"/>
                          <a:ea typeface="+mn-ea"/>
                          <a:cs typeface="+mn-cs"/>
                        </a:rPr>
                        <a:t>five</a:t>
                      </a:r>
                      <a:r>
                        <a:rPr lang="en-US" sz="3200" b="0" kern="1200" dirty="0">
                          <a:solidFill>
                            <a:schemeClr val="accent5"/>
                          </a:solidFill>
                          <a:latin typeface="Avenir Book" panose="02000503020000020003" pitchFamily="2" charset="0"/>
                          <a:ea typeface="+mn-ea"/>
                          <a:cs typeface="+mn-cs"/>
                        </a:rPr>
                        <a:t> courses in level </a:t>
                      </a:r>
                      <a:r>
                        <a:rPr lang="en-US" sz="3200" b="1" kern="1200" dirty="0">
                          <a:solidFill>
                            <a:schemeClr val="accent5"/>
                          </a:solidFill>
                          <a:latin typeface="Avenir Book" panose="02000503020000020003" pitchFamily="2" charset="0"/>
                          <a:ea typeface="+mn-ea"/>
                          <a:cs typeface="+mn-cs"/>
                        </a:rPr>
                        <a:t>one</a:t>
                      </a:r>
                      <a:r>
                        <a:rPr lang="en-US" sz="3200" b="0" kern="1200" dirty="0">
                          <a:solidFill>
                            <a:schemeClr val="accent5"/>
                          </a:solidFill>
                          <a:latin typeface="Avenir Book" panose="02000503020000020003" pitchFamily="2" charset="0"/>
                          <a:ea typeface="+mn-ea"/>
                          <a:cs typeface="+mn-cs"/>
                        </a:rPr>
                        <a:t> and </a:t>
                      </a:r>
                      <a:r>
                        <a:rPr lang="en-US" sz="3200" b="1" kern="1200" dirty="0">
                          <a:solidFill>
                            <a:schemeClr val="accent5"/>
                          </a:solidFill>
                          <a:latin typeface="Avenir Book" panose="02000503020000020003" pitchFamily="2" charset="0"/>
                          <a:ea typeface="+mn-ea"/>
                          <a:cs typeface="+mn-cs"/>
                        </a:rPr>
                        <a:t>seven</a:t>
                      </a:r>
                      <a:r>
                        <a:rPr lang="en-US" sz="3200" b="0" kern="1200" dirty="0">
                          <a:solidFill>
                            <a:schemeClr val="accent5"/>
                          </a:solidFill>
                          <a:latin typeface="Avenir Book" panose="02000503020000020003" pitchFamily="2" charset="0"/>
                          <a:ea typeface="+mn-ea"/>
                          <a:cs typeface="+mn-cs"/>
                        </a:rPr>
                        <a:t> courses in level </a:t>
                      </a:r>
                      <a:r>
                        <a:rPr lang="en-US" sz="3200" b="1" kern="1200" dirty="0">
                          <a:solidFill>
                            <a:schemeClr val="accent5"/>
                          </a:solidFill>
                          <a:latin typeface="Avenir Book" panose="02000503020000020003" pitchFamily="2" charset="0"/>
                          <a:ea typeface="+mn-ea"/>
                          <a:cs typeface="+mn-cs"/>
                        </a:rPr>
                        <a:t>two</a:t>
                      </a:r>
                    </a:p>
                  </a:txBody>
                  <a:tcPr marL="109400" marR="109400" marT="54700" marB="54700" anchor="ctr">
                    <a:solidFill>
                      <a:srgbClr val="92D050"/>
                    </a:solidFill>
                  </a:tcPr>
                </a:tc>
                <a:extLst>
                  <a:ext uri="{0D108BD9-81ED-4DB2-BD59-A6C34878D82A}">
                    <a16:rowId xmlns:a16="http://schemas.microsoft.com/office/drawing/2014/main" val="1665022550"/>
                  </a:ext>
                </a:extLst>
              </a:tr>
            </a:tbl>
          </a:graphicData>
        </a:graphic>
      </p:graphicFrame>
    </p:spTree>
    <p:extLst>
      <p:ext uri="{BB962C8B-B14F-4D97-AF65-F5344CB8AC3E}">
        <p14:creationId xmlns:p14="http://schemas.microsoft.com/office/powerpoint/2010/main" val="1302053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9</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1119610" y="4227320"/>
            <a:ext cx="4525816" cy="707886"/>
          </a:xfrm>
          <a:prstGeom prst="rect">
            <a:avLst/>
          </a:prstGeom>
        </p:spPr>
        <p:txBody>
          <a:bodyPr wrap="square">
            <a:spAutoFit/>
          </a:bodyPr>
          <a:lstStyle/>
          <a:p>
            <a:r>
              <a:rPr lang="en-IN" sz="4000" dirty="0">
                <a:solidFill>
                  <a:schemeClr val="accent5"/>
                </a:solidFill>
                <a:latin typeface="Avenir Book" panose="02000503020000020003" pitchFamily="2" charset="0"/>
              </a:rPr>
              <a:t>Spelling correction</a:t>
            </a: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extLst>
              <p:ext uri="{D42A27DB-BD31-4B8C-83A1-F6EECF244321}">
                <p14:modId xmlns:p14="http://schemas.microsoft.com/office/powerpoint/2010/main" val="471411669"/>
              </p:ext>
            </p:extLst>
          </p:nvPr>
        </p:nvGraphicFramePr>
        <p:xfrm>
          <a:off x="5956558" y="3021497"/>
          <a:ext cx="9608120" cy="2524538"/>
        </p:xfrm>
        <a:graphic>
          <a:graphicData uri="http://schemas.openxmlformats.org/drawingml/2006/table">
            <a:tbl>
              <a:tblPr firstRow="1" bandRow="1">
                <a:tableStyleId>{5C22544A-7EE6-4342-B048-85BDC9FD1C3A}</a:tableStyleId>
              </a:tblPr>
              <a:tblGrid>
                <a:gridCol w="4804060">
                  <a:extLst>
                    <a:ext uri="{9D8B030D-6E8A-4147-A177-3AD203B41FA5}">
                      <a16:colId xmlns:a16="http://schemas.microsoft.com/office/drawing/2014/main" val="2087324451"/>
                    </a:ext>
                  </a:extLst>
                </a:gridCol>
                <a:gridCol w="4804060">
                  <a:extLst>
                    <a:ext uri="{9D8B030D-6E8A-4147-A177-3AD203B41FA5}">
                      <a16:colId xmlns:a16="http://schemas.microsoft.com/office/drawing/2014/main" val="4098943428"/>
                    </a:ext>
                  </a:extLst>
                </a:gridCol>
              </a:tblGrid>
              <a:tr h="2524538">
                <a:tc>
                  <a:txBody>
                    <a:bodyPr/>
                    <a:lstStyle/>
                    <a:p>
                      <a:pPr algn="ctr"/>
                      <a:r>
                        <a:rPr lang="en-US" sz="3200" b="0" kern="1200" dirty="0">
                          <a:solidFill>
                            <a:schemeClr val="accent5"/>
                          </a:solidFill>
                          <a:latin typeface="Avenir Book" panose="02000503020000020003" pitchFamily="2" charset="0"/>
                          <a:ea typeface="+mn-ea"/>
                          <a:cs typeface="+mn-cs"/>
                        </a:rPr>
                        <a:t>The butler </a:t>
                      </a:r>
                      <a:r>
                        <a:rPr lang="en-US" sz="3200" b="1" kern="1200" dirty="0" err="1">
                          <a:solidFill>
                            <a:schemeClr val="accent5"/>
                          </a:solidFill>
                          <a:latin typeface="Avenir Book" panose="02000503020000020003" pitchFamily="2" charset="0"/>
                          <a:ea typeface="+mn-ea"/>
                          <a:cs typeface="+mn-cs"/>
                        </a:rPr>
                        <a:t>accomodated</a:t>
                      </a:r>
                      <a:r>
                        <a:rPr lang="en-US" sz="3200" b="0" kern="1200" dirty="0">
                          <a:solidFill>
                            <a:schemeClr val="accent5"/>
                          </a:solidFill>
                          <a:latin typeface="Avenir Book" panose="02000503020000020003" pitchFamily="2" charset="0"/>
                          <a:ea typeface="+mn-ea"/>
                          <a:cs typeface="+mn-cs"/>
                        </a:rPr>
                        <a:t> the guests.</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chemeClr val="accent6">
                        <a:lumMod val="60000"/>
                        <a:lumOff val="40000"/>
                      </a:schemeClr>
                    </a:solidFill>
                  </a:tcPr>
                </a:tc>
                <a:tc>
                  <a:txBody>
                    <a:bodyPr/>
                    <a:lstStyle/>
                    <a:p>
                      <a:pPr algn="ctr"/>
                      <a:r>
                        <a:rPr lang="en-US" sz="3200" b="0" kern="1200" dirty="0">
                          <a:solidFill>
                            <a:schemeClr val="accent5"/>
                          </a:solidFill>
                          <a:latin typeface="Avenir Book" panose="02000503020000020003" pitchFamily="2" charset="0"/>
                          <a:ea typeface="+mn-ea"/>
                          <a:cs typeface="+mn-cs"/>
                        </a:rPr>
                        <a:t>The butler </a:t>
                      </a:r>
                      <a:r>
                        <a:rPr lang="en-US" sz="3200" b="1" kern="1200" dirty="0">
                          <a:solidFill>
                            <a:schemeClr val="accent5"/>
                          </a:solidFill>
                          <a:latin typeface="Avenir Book" panose="02000503020000020003" pitchFamily="2" charset="0"/>
                          <a:ea typeface="+mn-ea"/>
                          <a:cs typeface="+mn-cs"/>
                        </a:rPr>
                        <a:t>accommodated</a:t>
                      </a:r>
                      <a:r>
                        <a:rPr lang="en-US" sz="3200" b="0" kern="1200" dirty="0">
                          <a:solidFill>
                            <a:schemeClr val="accent5"/>
                          </a:solidFill>
                          <a:latin typeface="Avenir Book" panose="02000503020000020003" pitchFamily="2" charset="0"/>
                          <a:ea typeface="+mn-ea"/>
                          <a:cs typeface="+mn-cs"/>
                        </a:rPr>
                        <a:t> the guests.</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rgbClr val="92D050"/>
                    </a:solidFill>
                  </a:tcPr>
                </a:tc>
                <a:extLst>
                  <a:ext uri="{0D108BD9-81ED-4DB2-BD59-A6C34878D82A}">
                    <a16:rowId xmlns:a16="http://schemas.microsoft.com/office/drawing/2014/main" val="1665022550"/>
                  </a:ext>
                </a:extLst>
              </a:tr>
            </a:tbl>
          </a:graphicData>
        </a:graphic>
      </p:graphicFrame>
    </p:spTree>
    <p:extLst>
      <p:ext uri="{BB962C8B-B14F-4D97-AF65-F5344CB8AC3E}">
        <p14:creationId xmlns:p14="http://schemas.microsoft.com/office/powerpoint/2010/main" val="4020164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10</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622210"/>
            <a:ext cx="10655241" cy="1938992"/>
          </a:xfrm>
          <a:prstGeom prst="rect">
            <a:avLst/>
          </a:prstGeom>
        </p:spPr>
        <p:txBody>
          <a:bodyPr wrap="square">
            <a:spAutoFit/>
          </a:bodyPr>
          <a:lstStyle/>
          <a:p>
            <a:r>
              <a:rPr lang="en-IN" sz="4000" dirty="0">
                <a:solidFill>
                  <a:schemeClr val="accent5"/>
                </a:solidFill>
                <a:latin typeface="Avenir Book" panose="02000503020000020003" pitchFamily="2" charset="0"/>
              </a:rPr>
              <a:t>Accented character to ASCII characters:</a:t>
            </a:r>
          </a:p>
          <a:p>
            <a:endParaRPr lang="en-IN" sz="4000" dirty="0">
              <a:solidFill>
                <a:schemeClr val="accent5"/>
              </a:solidFill>
              <a:latin typeface="Avenir Book" panose="02000503020000020003" pitchFamily="2" charset="0"/>
            </a:endParaRPr>
          </a:p>
          <a:p>
            <a:r>
              <a:rPr lang="en-IN" sz="4000" dirty="0">
                <a:solidFill>
                  <a:schemeClr val="accent5"/>
                </a:solidFill>
                <a:latin typeface="Avenir Book" panose="02000503020000020003" pitchFamily="2" charset="0"/>
              </a:rPr>
              <a:t>Compatibility</a:t>
            </a: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extLst>
              <p:ext uri="{D42A27DB-BD31-4B8C-83A1-F6EECF244321}">
                <p14:modId xmlns:p14="http://schemas.microsoft.com/office/powerpoint/2010/main" val="3927072276"/>
              </p:ext>
            </p:extLst>
          </p:nvPr>
        </p:nvGraphicFramePr>
        <p:xfrm>
          <a:off x="3233236" y="4909932"/>
          <a:ext cx="9608120" cy="2524538"/>
        </p:xfrm>
        <a:graphic>
          <a:graphicData uri="http://schemas.openxmlformats.org/drawingml/2006/table">
            <a:tbl>
              <a:tblPr firstRow="1" bandRow="1">
                <a:tableStyleId>{5C22544A-7EE6-4342-B048-85BDC9FD1C3A}</a:tableStyleId>
              </a:tblPr>
              <a:tblGrid>
                <a:gridCol w="4804060">
                  <a:extLst>
                    <a:ext uri="{9D8B030D-6E8A-4147-A177-3AD203B41FA5}">
                      <a16:colId xmlns:a16="http://schemas.microsoft.com/office/drawing/2014/main" val="2087324451"/>
                    </a:ext>
                  </a:extLst>
                </a:gridCol>
                <a:gridCol w="4804060">
                  <a:extLst>
                    <a:ext uri="{9D8B030D-6E8A-4147-A177-3AD203B41FA5}">
                      <a16:colId xmlns:a16="http://schemas.microsoft.com/office/drawing/2014/main" val="4098943428"/>
                    </a:ext>
                  </a:extLst>
                </a:gridCol>
              </a:tblGrid>
              <a:tr h="2524538">
                <a:tc>
                  <a:txBody>
                    <a:bodyPr/>
                    <a:lstStyle/>
                    <a:p>
                      <a:pPr algn="ctr"/>
                      <a:r>
                        <a:rPr lang="en-US" sz="3200" b="0" kern="1200" dirty="0">
                          <a:solidFill>
                            <a:schemeClr val="accent5"/>
                          </a:solidFill>
                          <a:latin typeface="Avenir Book" panose="02000503020000020003" pitchFamily="2" charset="0"/>
                          <a:ea typeface="+mn-ea"/>
                          <a:cs typeface="+mn-cs"/>
                        </a:rPr>
                        <a:t>José is a café owner in São Paulo.</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chemeClr val="accent6">
                        <a:lumMod val="60000"/>
                        <a:lumOff val="40000"/>
                      </a:schemeClr>
                    </a:solidFill>
                  </a:tcPr>
                </a:tc>
                <a:tc>
                  <a:txBody>
                    <a:bodyPr/>
                    <a:lstStyle/>
                    <a:p>
                      <a:pPr algn="ctr"/>
                      <a:r>
                        <a:rPr lang="en-US" sz="3200" b="0" kern="1200" dirty="0">
                          <a:solidFill>
                            <a:schemeClr val="accent5"/>
                          </a:solidFill>
                          <a:latin typeface="Avenir Book" panose="02000503020000020003" pitchFamily="2" charset="0"/>
                          <a:ea typeface="+mn-ea"/>
                          <a:cs typeface="+mn-cs"/>
                        </a:rPr>
                        <a:t>Jose is a cafe owner in Sao Paulo.</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rgbClr val="92D050"/>
                    </a:solidFill>
                  </a:tcPr>
                </a:tc>
                <a:extLst>
                  <a:ext uri="{0D108BD9-81ED-4DB2-BD59-A6C34878D82A}">
                    <a16:rowId xmlns:a16="http://schemas.microsoft.com/office/drawing/2014/main" val="1665022550"/>
                  </a:ext>
                </a:extLst>
              </a:tr>
            </a:tbl>
          </a:graphicData>
        </a:graphic>
      </p:graphicFrame>
    </p:spTree>
    <p:extLst>
      <p:ext uri="{BB962C8B-B14F-4D97-AF65-F5344CB8AC3E}">
        <p14:creationId xmlns:p14="http://schemas.microsoft.com/office/powerpoint/2010/main" val="294716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11</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622210"/>
            <a:ext cx="10655241" cy="1323439"/>
          </a:xfrm>
          <a:prstGeom prst="rect">
            <a:avLst/>
          </a:prstGeom>
        </p:spPr>
        <p:txBody>
          <a:bodyPr wrap="square">
            <a:spAutoFit/>
          </a:bodyPr>
          <a:lstStyle/>
          <a:p>
            <a:r>
              <a:rPr lang="en-IN" sz="4000" dirty="0">
                <a:solidFill>
                  <a:schemeClr val="accent5"/>
                </a:solidFill>
                <a:latin typeface="Avenir Book" panose="02000503020000020003" pitchFamily="2" charset="0"/>
              </a:rPr>
              <a:t>Expanding acronyms</a:t>
            </a:r>
          </a:p>
          <a:p>
            <a:endParaRPr lang="en-IN" sz="4000" dirty="0">
              <a:solidFill>
                <a:schemeClr val="accent5"/>
              </a:solidFill>
              <a:latin typeface="Avenir Book" panose="02000503020000020003" pitchFamily="2" charset="0"/>
            </a:endParaRPr>
          </a:p>
        </p:txBody>
      </p:sp>
      <p:graphicFrame>
        <p:nvGraphicFramePr>
          <p:cNvPr id="8" name="Table 7">
            <a:extLst>
              <a:ext uri="{FF2B5EF4-FFF2-40B4-BE49-F238E27FC236}">
                <a16:creationId xmlns:a16="http://schemas.microsoft.com/office/drawing/2014/main" id="{D0DF8F3F-144B-1445-ACB2-FB782F510B72}"/>
              </a:ext>
            </a:extLst>
          </p:cNvPr>
          <p:cNvGraphicFramePr>
            <a:graphicFrameLocks noGrp="1"/>
          </p:cNvGraphicFramePr>
          <p:nvPr>
            <p:extLst>
              <p:ext uri="{D42A27DB-BD31-4B8C-83A1-F6EECF244321}">
                <p14:modId xmlns:p14="http://schemas.microsoft.com/office/powerpoint/2010/main" val="3172602500"/>
              </p:ext>
            </p:extLst>
          </p:nvPr>
        </p:nvGraphicFramePr>
        <p:xfrm>
          <a:off x="3233236" y="4909932"/>
          <a:ext cx="9608120" cy="2524538"/>
        </p:xfrm>
        <a:graphic>
          <a:graphicData uri="http://schemas.openxmlformats.org/drawingml/2006/table">
            <a:tbl>
              <a:tblPr firstRow="1" bandRow="1">
                <a:tableStyleId>{5C22544A-7EE6-4342-B048-85BDC9FD1C3A}</a:tableStyleId>
              </a:tblPr>
              <a:tblGrid>
                <a:gridCol w="4804060">
                  <a:extLst>
                    <a:ext uri="{9D8B030D-6E8A-4147-A177-3AD203B41FA5}">
                      <a16:colId xmlns:a16="http://schemas.microsoft.com/office/drawing/2014/main" val="2087324451"/>
                    </a:ext>
                  </a:extLst>
                </a:gridCol>
                <a:gridCol w="4804060">
                  <a:extLst>
                    <a:ext uri="{9D8B030D-6E8A-4147-A177-3AD203B41FA5}">
                      <a16:colId xmlns:a16="http://schemas.microsoft.com/office/drawing/2014/main" val="4098943428"/>
                    </a:ext>
                  </a:extLst>
                </a:gridCol>
              </a:tblGrid>
              <a:tr h="2524538">
                <a:tc>
                  <a:txBody>
                    <a:bodyPr/>
                    <a:lstStyle/>
                    <a:p>
                      <a:pPr algn="ctr"/>
                      <a:r>
                        <a:rPr lang="en-US" sz="3200" b="0" kern="1200" dirty="0">
                          <a:solidFill>
                            <a:schemeClr val="accent5"/>
                          </a:solidFill>
                          <a:latin typeface="Avenir Book" panose="02000503020000020003" pitchFamily="2" charset="0"/>
                          <a:ea typeface="+mn-ea"/>
                          <a:cs typeface="+mn-cs"/>
                        </a:rPr>
                        <a:t>LOL</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chemeClr val="accent6">
                        <a:lumMod val="60000"/>
                        <a:lumOff val="40000"/>
                      </a:schemeClr>
                    </a:solidFill>
                  </a:tcPr>
                </a:tc>
                <a:tc>
                  <a:txBody>
                    <a:bodyPr/>
                    <a:lstStyle/>
                    <a:p>
                      <a:pPr algn="ctr"/>
                      <a:r>
                        <a:rPr lang="en-US" sz="3200" b="0" kern="1200" dirty="0">
                          <a:solidFill>
                            <a:schemeClr val="accent5"/>
                          </a:solidFill>
                          <a:latin typeface="Avenir Book" panose="02000503020000020003" pitchFamily="2" charset="0"/>
                          <a:ea typeface="+mn-ea"/>
                          <a:cs typeface="+mn-cs"/>
                        </a:rPr>
                        <a:t>Laughing Out Loud</a:t>
                      </a:r>
                      <a:endParaRPr lang="en-US" sz="3200" b="1" kern="1200" dirty="0">
                        <a:solidFill>
                          <a:schemeClr val="accent5"/>
                        </a:solidFill>
                        <a:latin typeface="Avenir Book" panose="02000503020000020003" pitchFamily="2" charset="0"/>
                        <a:ea typeface="+mn-ea"/>
                        <a:cs typeface="+mn-cs"/>
                      </a:endParaRPr>
                    </a:p>
                  </a:txBody>
                  <a:tcPr marL="109400" marR="109400" marT="54700" marB="54700" anchor="ctr">
                    <a:solidFill>
                      <a:srgbClr val="92D050"/>
                    </a:solidFill>
                  </a:tcPr>
                </a:tc>
                <a:extLst>
                  <a:ext uri="{0D108BD9-81ED-4DB2-BD59-A6C34878D82A}">
                    <a16:rowId xmlns:a16="http://schemas.microsoft.com/office/drawing/2014/main" val="1665022550"/>
                  </a:ext>
                </a:extLst>
              </a:tr>
            </a:tbl>
          </a:graphicData>
        </a:graphic>
      </p:graphicFrame>
    </p:spTree>
    <p:extLst>
      <p:ext uri="{BB962C8B-B14F-4D97-AF65-F5344CB8AC3E}">
        <p14:creationId xmlns:p14="http://schemas.microsoft.com/office/powerpoint/2010/main" val="1736471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12</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622210"/>
            <a:ext cx="7626825" cy="4708981"/>
          </a:xfrm>
          <a:prstGeom prst="rect">
            <a:avLst/>
          </a:prstGeom>
        </p:spPr>
        <p:txBody>
          <a:bodyPr wrap="square">
            <a:spAutoFit/>
          </a:bodyPr>
          <a:lstStyle/>
          <a:p>
            <a:r>
              <a:rPr lang="en-IN" sz="4000" b="1" dirty="0">
                <a:solidFill>
                  <a:schemeClr val="accent5"/>
                </a:solidFill>
                <a:latin typeface="Avenir Book" panose="02000503020000020003" pitchFamily="2" charset="0"/>
              </a:rPr>
              <a:t>Stemming</a:t>
            </a:r>
          </a:p>
          <a:p>
            <a:endParaRPr lang="en-IN" sz="40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Stemming is a common technique in NLP that involves reducing words to their base or root form.</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Vocabulary Reduction</a:t>
            </a:r>
          </a:p>
          <a:p>
            <a:endParaRPr lang="en-IN" sz="4000" dirty="0">
              <a:solidFill>
                <a:schemeClr val="accent5"/>
              </a:solidFill>
              <a:latin typeface="Avenir Book" panose="02000503020000020003" pitchFamily="2" charset="0"/>
            </a:endParaRPr>
          </a:p>
        </p:txBody>
      </p:sp>
      <p:pic>
        <p:nvPicPr>
          <p:cNvPr id="3" name="Picture 2">
            <a:extLst>
              <a:ext uri="{FF2B5EF4-FFF2-40B4-BE49-F238E27FC236}">
                <a16:creationId xmlns:a16="http://schemas.microsoft.com/office/drawing/2014/main" id="{064514D1-1031-0E47-A350-4313D928E463}"/>
              </a:ext>
            </a:extLst>
          </p:cNvPr>
          <p:cNvPicPr>
            <a:picLocks noChangeAspect="1"/>
          </p:cNvPicPr>
          <p:nvPr/>
        </p:nvPicPr>
        <p:blipFill>
          <a:blip r:embed="rId3"/>
          <a:stretch>
            <a:fillRect/>
          </a:stretch>
        </p:blipFill>
        <p:spPr>
          <a:xfrm>
            <a:off x="9100727" y="1055670"/>
            <a:ext cx="5534517" cy="7177577"/>
          </a:xfrm>
          <a:prstGeom prst="rect">
            <a:avLst/>
          </a:prstGeom>
        </p:spPr>
      </p:pic>
    </p:spTree>
    <p:extLst>
      <p:ext uri="{BB962C8B-B14F-4D97-AF65-F5344CB8AC3E}">
        <p14:creationId xmlns:p14="http://schemas.microsoft.com/office/powerpoint/2010/main" val="2903449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13</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2" y="2622211"/>
            <a:ext cx="7646703" cy="5201424"/>
          </a:xfrm>
          <a:prstGeom prst="rect">
            <a:avLst/>
          </a:prstGeom>
        </p:spPr>
        <p:txBody>
          <a:bodyPr wrap="square">
            <a:spAutoFit/>
          </a:bodyPr>
          <a:lstStyle/>
          <a:p>
            <a:r>
              <a:rPr lang="en-IN" sz="4000" b="1" dirty="0">
                <a:solidFill>
                  <a:schemeClr val="accent5"/>
                </a:solidFill>
                <a:latin typeface="Avenir Book" panose="02000503020000020003" pitchFamily="2" charset="0"/>
              </a:rPr>
              <a:t>Lemmatization</a:t>
            </a:r>
          </a:p>
          <a:p>
            <a:endParaRPr lang="en-IN" sz="40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Lemmatization does not only trim the </a:t>
            </a:r>
            <a:r>
              <a:rPr lang="en-IN" sz="3600" b="1" dirty="0">
                <a:solidFill>
                  <a:schemeClr val="accent5"/>
                </a:solidFill>
                <a:latin typeface="Avenir Book" panose="02000503020000020003" pitchFamily="2" charset="0"/>
              </a:rPr>
              <a:t>suffix</a:t>
            </a:r>
            <a:r>
              <a:rPr lang="en-IN" sz="3600" dirty="0">
                <a:solidFill>
                  <a:schemeClr val="accent5"/>
                </a:solidFill>
                <a:latin typeface="Avenir Book" panose="02000503020000020003" pitchFamily="2" charset="0"/>
              </a:rPr>
              <a:t> characters; instead, use lexical knowledge bases to get original words. </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When accuracy matters more than speed.</a:t>
            </a:r>
          </a:p>
        </p:txBody>
      </p:sp>
      <p:pic>
        <p:nvPicPr>
          <p:cNvPr id="4" name="Picture 3">
            <a:extLst>
              <a:ext uri="{FF2B5EF4-FFF2-40B4-BE49-F238E27FC236}">
                <a16:creationId xmlns:a16="http://schemas.microsoft.com/office/drawing/2014/main" id="{64F86694-2F0C-1348-BC56-4F35D8EB400C}"/>
              </a:ext>
            </a:extLst>
          </p:cNvPr>
          <p:cNvPicPr>
            <a:picLocks noChangeAspect="1"/>
          </p:cNvPicPr>
          <p:nvPr/>
        </p:nvPicPr>
        <p:blipFill>
          <a:blip r:embed="rId3"/>
          <a:stretch>
            <a:fillRect/>
          </a:stretch>
        </p:blipFill>
        <p:spPr>
          <a:xfrm>
            <a:off x="9692635" y="1252331"/>
            <a:ext cx="5346497" cy="6599583"/>
          </a:xfrm>
          <a:prstGeom prst="rect">
            <a:avLst/>
          </a:prstGeom>
        </p:spPr>
      </p:pic>
    </p:spTree>
    <p:extLst>
      <p:ext uri="{BB962C8B-B14F-4D97-AF65-F5344CB8AC3E}">
        <p14:creationId xmlns:p14="http://schemas.microsoft.com/office/powerpoint/2010/main" val="2296248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14</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980462" y="1055670"/>
            <a:ext cx="10887524" cy="694591"/>
          </a:xfrm>
        </p:spPr>
        <p:txBody>
          <a:bodyPr/>
          <a:lstStyle/>
          <a:p>
            <a:r>
              <a:rPr lang="en-US" dirty="0">
                <a:latin typeface="Avenir Book" panose="02000503020000020003" pitchFamily="2" charset="0"/>
                <a:cs typeface="Calibri" panose="020F0502020204030204" pitchFamily="34" charset="0"/>
              </a:rPr>
              <a:t>NLP Data Cleaning</a:t>
            </a:r>
          </a:p>
        </p:txBody>
      </p:sp>
      <p:sp>
        <p:nvSpPr>
          <p:cNvPr id="2" name="Rectangle 1">
            <a:extLst>
              <a:ext uri="{FF2B5EF4-FFF2-40B4-BE49-F238E27FC236}">
                <a16:creationId xmlns:a16="http://schemas.microsoft.com/office/drawing/2014/main" id="{4411BE6E-4EC2-3142-AF79-C8D8102DF362}"/>
              </a:ext>
            </a:extLst>
          </p:cNvPr>
          <p:cNvSpPr/>
          <p:nvPr/>
        </p:nvSpPr>
        <p:spPr>
          <a:xfrm>
            <a:off x="980461" y="2214406"/>
            <a:ext cx="14345677" cy="3277820"/>
          </a:xfrm>
          <a:prstGeom prst="rect">
            <a:avLst/>
          </a:prstGeom>
        </p:spPr>
        <p:txBody>
          <a:bodyPr wrap="square">
            <a:spAutoFit/>
          </a:bodyPr>
          <a:lstStyle/>
          <a:p>
            <a:r>
              <a:rPr lang="en-IN" sz="4000" b="1" dirty="0">
                <a:solidFill>
                  <a:schemeClr val="accent5"/>
                </a:solidFill>
                <a:latin typeface="Avenir Book" panose="02000503020000020003" pitchFamily="2" charset="0"/>
              </a:rPr>
              <a:t>Stop words</a:t>
            </a:r>
          </a:p>
          <a:p>
            <a:endParaRPr lang="en-IN" sz="4000" dirty="0">
              <a:solidFill>
                <a:schemeClr val="accent5"/>
              </a:solidFill>
              <a:latin typeface="Avenir Book" panose="02000503020000020003" pitchFamily="2" charset="0"/>
            </a:endParaRPr>
          </a:p>
          <a:p>
            <a:r>
              <a:rPr lang="en-IN" sz="3200" dirty="0">
                <a:solidFill>
                  <a:schemeClr val="accent5"/>
                </a:solidFill>
                <a:latin typeface="Avenir Book" panose="02000503020000020003" pitchFamily="2" charset="0"/>
              </a:rPr>
              <a:t>Stop words are words that are commonly used in a language but are usually not meaningful for most NLP tasks as they do not carry significant semantic or contextual information. By removing stop words, we can reduce the size of the text .</a:t>
            </a:r>
          </a:p>
        </p:txBody>
      </p:sp>
      <p:sp>
        <p:nvSpPr>
          <p:cNvPr id="6" name="Rectangle 5">
            <a:extLst>
              <a:ext uri="{FF2B5EF4-FFF2-40B4-BE49-F238E27FC236}">
                <a16:creationId xmlns:a16="http://schemas.microsoft.com/office/drawing/2014/main" id="{C11BB539-7E1B-B949-B6B8-B5CEC3DF8D8A}"/>
              </a:ext>
            </a:extLst>
          </p:cNvPr>
          <p:cNvSpPr/>
          <p:nvPr/>
        </p:nvSpPr>
        <p:spPr>
          <a:xfrm>
            <a:off x="980461" y="5956372"/>
            <a:ext cx="13550547" cy="1661993"/>
          </a:xfrm>
          <a:prstGeom prst="rect">
            <a:avLst/>
          </a:prstGeom>
        </p:spPr>
        <p:txBody>
          <a:bodyPr wrap="square">
            <a:spAutoFit/>
          </a:bodyPr>
          <a:lstStyle/>
          <a:p>
            <a:r>
              <a:rPr lang="en-IN" sz="3400" b="1" dirty="0">
                <a:solidFill>
                  <a:srgbClr val="C00000"/>
                </a:solidFill>
                <a:latin typeface="Avenir Book" panose="02000503020000020003" pitchFamily="2" charset="0"/>
              </a:rPr>
              <a:t>During</a:t>
            </a:r>
            <a:r>
              <a:rPr lang="en-IN" sz="3400" dirty="0">
                <a:solidFill>
                  <a:schemeClr val="accent5"/>
                </a:solidFill>
                <a:latin typeface="Avenir Book" panose="02000503020000020003" pitchFamily="2" charset="0"/>
              </a:rPr>
              <a:t> </a:t>
            </a:r>
            <a:r>
              <a:rPr lang="en-IN" sz="3400" b="1" dirty="0">
                <a:solidFill>
                  <a:srgbClr val="C00000"/>
                </a:solidFill>
                <a:latin typeface="Avenir Book" panose="02000503020000020003" pitchFamily="2" charset="0"/>
              </a:rPr>
              <a:t>the</a:t>
            </a:r>
            <a:r>
              <a:rPr lang="en-IN" sz="3400" dirty="0">
                <a:solidFill>
                  <a:schemeClr val="accent5"/>
                </a:solidFill>
                <a:latin typeface="Avenir Book" panose="02000503020000020003" pitchFamily="2" charset="0"/>
              </a:rPr>
              <a:t> summer, </a:t>
            </a:r>
            <a:r>
              <a:rPr lang="en-IN" sz="3400" b="1" dirty="0">
                <a:solidFill>
                  <a:srgbClr val="C00000"/>
                </a:solidFill>
                <a:latin typeface="Avenir Book" panose="02000503020000020003" pitchFamily="2" charset="0"/>
              </a:rPr>
              <a:t>I</a:t>
            </a:r>
            <a:r>
              <a:rPr lang="en-IN" sz="3400" dirty="0">
                <a:solidFill>
                  <a:schemeClr val="accent5"/>
                </a:solidFill>
                <a:latin typeface="Avenir Book" panose="02000503020000020003" pitchFamily="2" charset="0"/>
              </a:rPr>
              <a:t> like </a:t>
            </a:r>
            <a:r>
              <a:rPr lang="en-IN" sz="3400" b="1" dirty="0">
                <a:solidFill>
                  <a:srgbClr val="C00000"/>
                </a:solidFill>
                <a:latin typeface="Avenir Book" panose="02000503020000020003" pitchFamily="2" charset="0"/>
              </a:rPr>
              <a:t>to</a:t>
            </a:r>
            <a:r>
              <a:rPr lang="en-IN" sz="3400" dirty="0">
                <a:solidFill>
                  <a:schemeClr val="accent5"/>
                </a:solidFill>
                <a:latin typeface="Avenir Book" panose="02000503020000020003" pitchFamily="2" charset="0"/>
              </a:rPr>
              <a:t> go </a:t>
            </a:r>
            <a:r>
              <a:rPr lang="en-IN" sz="3400" b="1" dirty="0">
                <a:solidFill>
                  <a:srgbClr val="C00000"/>
                </a:solidFill>
                <a:latin typeface="Avenir Book" panose="02000503020000020003" pitchFamily="2" charset="0"/>
              </a:rPr>
              <a:t>to</a:t>
            </a:r>
            <a:r>
              <a:rPr lang="en-IN" sz="3400" dirty="0">
                <a:solidFill>
                  <a:schemeClr val="accent5"/>
                </a:solidFill>
                <a:latin typeface="Avenir Book" panose="02000503020000020003" pitchFamily="2" charset="0"/>
              </a:rPr>
              <a:t> </a:t>
            </a:r>
            <a:r>
              <a:rPr lang="en-IN" sz="3400" b="1" dirty="0">
                <a:solidFill>
                  <a:srgbClr val="C00000"/>
                </a:solidFill>
                <a:latin typeface="Avenir Book" panose="02000503020000020003" pitchFamily="2" charset="0"/>
              </a:rPr>
              <a:t>the</a:t>
            </a:r>
            <a:r>
              <a:rPr lang="en-IN" sz="3400" dirty="0">
                <a:solidFill>
                  <a:schemeClr val="accent5"/>
                </a:solidFill>
                <a:latin typeface="Avenir Book" panose="02000503020000020003" pitchFamily="2" charset="0"/>
              </a:rPr>
              <a:t> beach </a:t>
            </a:r>
            <a:r>
              <a:rPr lang="en-IN" sz="3400" b="1" dirty="0">
                <a:solidFill>
                  <a:srgbClr val="C00000"/>
                </a:solidFill>
                <a:latin typeface="Avenir Book" panose="02000503020000020003" pitchFamily="2" charset="0"/>
              </a:rPr>
              <a:t>and</a:t>
            </a:r>
            <a:r>
              <a:rPr lang="en-IN" sz="3400" dirty="0">
                <a:solidFill>
                  <a:schemeClr val="accent5"/>
                </a:solidFill>
                <a:latin typeface="Avenir Book" panose="02000503020000020003" pitchFamily="2" charset="0"/>
              </a:rPr>
              <a:t> swim </a:t>
            </a:r>
            <a:r>
              <a:rPr lang="en-IN" sz="3400" b="1" dirty="0">
                <a:solidFill>
                  <a:srgbClr val="C00000"/>
                </a:solidFill>
                <a:latin typeface="Avenir Book" panose="02000503020000020003" pitchFamily="2" charset="0"/>
              </a:rPr>
              <a:t>in the</a:t>
            </a:r>
            <a:r>
              <a:rPr lang="en-IN" sz="3400" dirty="0">
                <a:solidFill>
                  <a:schemeClr val="accent5"/>
                </a:solidFill>
                <a:latin typeface="Avenir Book" panose="02000503020000020003" pitchFamily="2" charset="0"/>
              </a:rPr>
              <a:t> ocean.</a:t>
            </a:r>
          </a:p>
          <a:p>
            <a:endParaRPr lang="en-IN" sz="3400" dirty="0">
              <a:solidFill>
                <a:schemeClr val="accent5"/>
              </a:solidFill>
              <a:latin typeface="Avenir Book" panose="02000503020000020003" pitchFamily="2" charset="0"/>
            </a:endParaRPr>
          </a:p>
          <a:p>
            <a:r>
              <a:rPr lang="en-IN" sz="3400" dirty="0">
                <a:solidFill>
                  <a:schemeClr val="accent5"/>
                </a:solidFill>
                <a:latin typeface="Avenir Book" panose="02000503020000020003" pitchFamily="2" charset="0"/>
              </a:rPr>
              <a:t>Summer, like, beach, swim, ocean.</a:t>
            </a:r>
            <a:endParaRPr lang="en-US" sz="3400" dirty="0">
              <a:solidFill>
                <a:schemeClr val="accent5"/>
              </a:solidFill>
              <a:latin typeface="Avenir Book" panose="02000503020000020003" pitchFamily="2" charset="0"/>
            </a:endParaRPr>
          </a:p>
        </p:txBody>
      </p:sp>
    </p:spTree>
    <p:extLst>
      <p:ext uri="{BB962C8B-B14F-4D97-AF65-F5344CB8AC3E}">
        <p14:creationId xmlns:p14="http://schemas.microsoft.com/office/powerpoint/2010/main" val="1892545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15</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728214" y="916522"/>
            <a:ext cx="14524581" cy="694591"/>
          </a:xfrm>
        </p:spPr>
        <p:txBody>
          <a:bodyPr/>
          <a:lstStyle/>
          <a:p>
            <a:r>
              <a:rPr lang="en-US" sz="5100" dirty="0">
                <a:latin typeface="Avenir Book" panose="02000503020000020003" pitchFamily="2" charset="0"/>
                <a:cs typeface="Calibri" panose="020F0502020204030204" pitchFamily="34" charset="0"/>
              </a:rPr>
              <a:t>Transform Unstructured Text to Structured Format</a:t>
            </a:r>
          </a:p>
        </p:txBody>
      </p:sp>
      <p:sp>
        <p:nvSpPr>
          <p:cNvPr id="3" name="Rectangle 2">
            <a:extLst>
              <a:ext uri="{FF2B5EF4-FFF2-40B4-BE49-F238E27FC236}">
                <a16:creationId xmlns:a16="http://schemas.microsoft.com/office/drawing/2014/main" id="{C545BDAF-1331-CE41-87CB-1ED2678559A2}"/>
              </a:ext>
            </a:extLst>
          </p:cNvPr>
          <p:cNvSpPr/>
          <p:nvPr/>
        </p:nvSpPr>
        <p:spPr>
          <a:xfrm>
            <a:off x="867362" y="2223171"/>
            <a:ext cx="13544377" cy="4832092"/>
          </a:xfrm>
          <a:prstGeom prst="rect">
            <a:avLst/>
          </a:prstGeom>
        </p:spPr>
        <p:txBody>
          <a:bodyPr wrap="square">
            <a:spAutoFit/>
          </a:bodyPr>
          <a:lstStyle/>
          <a:p>
            <a:r>
              <a:rPr lang="en-IN" sz="4400" dirty="0">
                <a:solidFill>
                  <a:schemeClr val="accent5"/>
                </a:solidFill>
                <a:latin typeface="Avenir Book" panose="02000503020000020003" pitchFamily="2" charset="0"/>
              </a:rPr>
              <a:t>Common Methods:</a:t>
            </a:r>
          </a:p>
          <a:p>
            <a:endParaRPr lang="en-IN" sz="4400" dirty="0">
              <a:solidFill>
                <a:schemeClr val="accent5"/>
              </a:solidFill>
              <a:latin typeface="Avenir Book" panose="02000503020000020003" pitchFamily="2" charset="0"/>
            </a:endParaRPr>
          </a:p>
          <a:p>
            <a:pPr marL="514350" indent="-514350">
              <a:buAutoNum type="arabicPeriod"/>
            </a:pPr>
            <a:r>
              <a:rPr lang="en-IN" sz="4400" dirty="0">
                <a:solidFill>
                  <a:schemeClr val="accent5"/>
                </a:solidFill>
                <a:latin typeface="Avenir Book" panose="02000503020000020003" pitchFamily="2" charset="0"/>
              </a:rPr>
              <a:t>Bag of Words</a:t>
            </a:r>
          </a:p>
          <a:p>
            <a:pPr marL="514350" indent="-514350">
              <a:buAutoNum type="arabicPeriod"/>
            </a:pPr>
            <a:r>
              <a:rPr lang="en-IN" sz="4400" dirty="0">
                <a:solidFill>
                  <a:schemeClr val="accent5"/>
                </a:solidFill>
                <a:latin typeface="Avenir Book" panose="02000503020000020003" pitchFamily="2" charset="0"/>
              </a:rPr>
              <a:t>N-grams</a:t>
            </a:r>
          </a:p>
          <a:p>
            <a:pPr marL="514350" indent="-514350">
              <a:buAutoNum type="arabicPeriod"/>
            </a:pPr>
            <a:r>
              <a:rPr lang="en-IN" sz="4400" dirty="0">
                <a:solidFill>
                  <a:schemeClr val="accent5"/>
                </a:solidFill>
                <a:latin typeface="Avenir Book" panose="02000503020000020003" pitchFamily="2" charset="0"/>
              </a:rPr>
              <a:t>TF-IDF</a:t>
            </a:r>
          </a:p>
          <a:p>
            <a:pPr marL="514350" indent="-514350">
              <a:buAutoNum type="arabicPeriod"/>
            </a:pPr>
            <a:r>
              <a:rPr lang="en-IN" sz="4400" dirty="0">
                <a:solidFill>
                  <a:schemeClr val="accent5"/>
                </a:solidFill>
                <a:latin typeface="Avenir Book" panose="02000503020000020003" pitchFamily="2" charset="0"/>
              </a:rPr>
              <a:t>Part Of Speech (POS) Tagging</a:t>
            </a:r>
          </a:p>
          <a:p>
            <a:pPr marL="514350" indent="-514350">
              <a:buAutoNum type="arabicPeriod"/>
            </a:pPr>
            <a:r>
              <a:rPr lang="en-IN" sz="4400" dirty="0">
                <a:solidFill>
                  <a:schemeClr val="accent5"/>
                </a:solidFill>
                <a:latin typeface="Avenir Book" panose="02000503020000020003" pitchFamily="2" charset="0"/>
              </a:rPr>
              <a:t>Word2Vec</a:t>
            </a:r>
            <a:endParaRPr lang="en-US" sz="4400" dirty="0"/>
          </a:p>
        </p:txBody>
      </p:sp>
    </p:spTree>
    <p:extLst>
      <p:ext uri="{BB962C8B-B14F-4D97-AF65-F5344CB8AC3E}">
        <p14:creationId xmlns:p14="http://schemas.microsoft.com/office/powerpoint/2010/main" val="886146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16</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867362" y="875256"/>
            <a:ext cx="4917212" cy="694591"/>
          </a:xfrm>
        </p:spPr>
        <p:txBody>
          <a:bodyPr/>
          <a:lstStyle/>
          <a:p>
            <a:r>
              <a:rPr lang="en-US" sz="5400" dirty="0">
                <a:latin typeface="Avenir Book" panose="02000503020000020003" pitchFamily="2" charset="0"/>
                <a:cs typeface="Calibri" panose="020F0502020204030204" pitchFamily="34" charset="0"/>
              </a:rPr>
              <a:t>Bag of Words</a:t>
            </a:r>
          </a:p>
        </p:txBody>
      </p:sp>
      <p:sp>
        <p:nvSpPr>
          <p:cNvPr id="3" name="Rectangle 2">
            <a:extLst>
              <a:ext uri="{FF2B5EF4-FFF2-40B4-BE49-F238E27FC236}">
                <a16:creationId xmlns:a16="http://schemas.microsoft.com/office/drawing/2014/main" id="{C545BDAF-1331-CE41-87CB-1ED2678559A2}"/>
              </a:ext>
            </a:extLst>
          </p:cNvPr>
          <p:cNvSpPr/>
          <p:nvPr/>
        </p:nvSpPr>
        <p:spPr>
          <a:xfrm>
            <a:off x="867362" y="2223171"/>
            <a:ext cx="13544377" cy="1754326"/>
          </a:xfrm>
          <a:prstGeom prst="rect">
            <a:avLst/>
          </a:prstGeom>
        </p:spPr>
        <p:txBody>
          <a:bodyPr wrap="square">
            <a:spAutoFit/>
          </a:bodyPr>
          <a:lstStyle/>
          <a:p>
            <a:r>
              <a:rPr lang="en-IN" sz="3600" dirty="0">
                <a:solidFill>
                  <a:schemeClr val="accent5"/>
                </a:solidFill>
                <a:latin typeface="Avenir Book" panose="02000503020000020003" pitchFamily="2" charset="0"/>
              </a:rPr>
              <a:t>This method represents text as a set of words and their frequency in a given document. It ignores the order of words and only considers their frequency.</a:t>
            </a:r>
          </a:p>
        </p:txBody>
      </p:sp>
      <p:pic>
        <p:nvPicPr>
          <p:cNvPr id="6" name="Picture 5">
            <a:extLst>
              <a:ext uri="{FF2B5EF4-FFF2-40B4-BE49-F238E27FC236}">
                <a16:creationId xmlns:a16="http://schemas.microsoft.com/office/drawing/2014/main" id="{63F78ED4-6E1C-AE45-8670-49F0AC488798}"/>
              </a:ext>
            </a:extLst>
          </p:cNvPr>
          <p:cNvPicPr>
            <a:picLocks noChangeAspect="1"/>
          </p:cNvPicPr>
          <p:nvPr/>
        </p:nvPicPr>
        <p:blipFill rotWithShape="1">
          <a:blip r:embed="rId3"/>
          <a:srcRect t="16118" r="1868" b="10015"/>
          <a:stretch/>
        </p:blipFill>
        <p:spPr>
          <a:xfrm>
            <a:off x="634901" y="4589555"/>
            <a:ext cx="14009298" cy="3421384"/>
          </a:xfrm>
          <a:prstGeom prst="rect">
            <a:avLst/>
          </a:prstGeom>
        </p:spPr>
      </p:pic>
    </p:spTree>
    <p:extLst>
      <p:ext uri="{BB962C8B-B14F-4D97-AF65-F5344CB8AC3E}">
        <p14:creationId xmlns:p14="http://schemas.microsoft.com/office/powerpoint/2010/main" val="616213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17</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867362" y="875256"/>
            <a:ext cx="4917212" cy="694591"/>
          </a:xfrm>
        </p:spPr>
        <p:txBody>
          <a:bodyPr/>
          <a:lstStyle/>
          <a:p>
            <a:r>
              <a:rPr lang="en-US" sz="5400" dirty="0">
                <a:latin typeface="Avenir Book" panose="02000503020000020003" pitchFamily="2" charset="0"/>
                <a:cs typeface="Calibri" panose="020F0502020204030204" pitchFamily="34" charset="0"/>
              </a:rPr>
              <a:t>N-grams</a:t>
            </a:r>
          </a:p>
        </p:txBody>
      </p:sp>
      <p:sp>
        <p:nvSpPr>
          <p:cNvPr id="3" name="Rectangle 2">
            <a:extLst>
              <a:ext uri="{FF2B5EF4-FFF2-40B4-BE49-F238E27FC236}">
                <a16:creationId xmlns:a16="http://schemas.microsoft.com/office/drawing/2014/main" id="{C545BDAF-1331-CE41-87CB-1ED2678559A2}"/>
              </a:ext>
            </a:extLst>
          </p:cNvPr>
          <p:cNvSpPr/>
          <p:nvPr/>
        </p:nvSpPr>
        <p:spPr>
          <a:xfrm>
            <a:off x="867362" y="2223171"/>
            <a:ext cx="13544377" cy="1200329"/>
          </a:xfrm>
          <a:prstGeom prst="rect">
            <a:avLst/>
          </a:prstGeom>
        </p:spPr>
        <p:txBody>
          <a:bodyPr wrap="square">
            <a:spAutoFit/>
          </a:bodyPr>
          <a:lstStyle/>
          <a:p>
            <a:r>
              <a:rPr lang="en-IN" sz="3600" dirty="0">
                <a:solidFill>
                  <a:schemeClr val="accent5"/>
                </a:solidFill>
                <a:latin typeface="Avenir Book" panose="02000503020000020003" pitchFamily="2" charset="0"/>
              </a:rPr>
              <a:t>N-grams are sequences of n words in a given text. They can be used to represent the context of a word or phrase.</a:t>
            </a:r>
          </a:p>
        </p:txBody>
      </p:sp>
      <p:pic>
        <p:nvPicPr>
          <p:cNvPr id="8" name="Picture 7">
            <a:extLst>
              <a:ext uri="{FF2B5EF4-FFF2-40B4-BE49-F238E27FC236}">
                <a16:creationId xmlns:a16="http://schemas.microsoft.com/office/drawing/2014/main" id="{82092FA3-F91C-3949-A28A-EDB78BC8B6EC}"/>
              </a:ext>
            </a:extLst>
          </p:cNvPr>
          <p:cNvPicPr>
            <a:picLocks noChangeAspect="1"/>
          </p:cNvPicPr>
          <p:nvPr/>
        </p:nvPicPr>
        <p:blipFill>
          <a:blip r:embed="rId3"/>
          <a:stretch>
            <a:fillRect/>
          </a:stretch>
        </p:blipFill>
        <p:spPr>
          <a:xfrm>
            <a:off x="867362" y="4076824"/>
            <a:ext cx="14893600" cy="3909943"/>
          </a:xfrm>
          <a:prstGeom prst="rect">
            <a:avLst/>
          </a:prstGeom>
        </p:spPr>
      </p:pic>
    </p:spTree>
    <p:extLst>
      <p:ext uri="{BB962C8B-B14F-4D97-AF65-F5344CB8AC3E}">
        <p14:creationId xmlns:p14="http://schemas.microsoft.com/office/powerpoint/2010/main" val="3379656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18</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867362" y="875256"/>
            <a:ext cx="4917212" cy="694591"/>
          </a:xfrm>
        </p:spPr>
        <p:txBody>
          <a:bodyPr/>
          <a:lstStyle/>
          <a:p>
            <a:r>
              <a:rPr lang="en-US" sz="5400" dirty="0">
                <a:latin typeface="Avenir Book" panose="02000503020000020003" pitchFamily="2" charset="0"/>
                <a:cs typeface="Calibri" panose="020F0502020204030204" pitchFamily="34" charset="0"/>
              </a:rPr>
              <a:t>TF-IDF</a:t>
            </a:r>
          </a:p>
        </p:txBody>
      </p:sp>
      <p:sp>
        <p:nvSpPr>
          <p:cNvPr id="3" name="Rectangle 2">
            <a:extLst>
              <a:ext uri="{FF2B5EF4-FFF2-40B4-BE49-F238E27FC236}">
                <a16:creationId xmlns:a16="http://schemas.microsoft.com/office/drawing/2014/main" id="{C545BDAF-1331-CE41-87CB-1ED2678559A2}"/>
              </a:ext>
            </a:extLst>
          </p:cNvPr>
          <p:cNvSpPr/>
          <p:nvPr/>
        </p:nvSpPr>
        <p:spPr>
          <a:xfrm>
            <a:off x="867362" y="1976022"/>
            <a:ext cx="14538290" cy="1200329"/>
          </a:xfrm>
          <a:prstGeom prst="rect">
            <a:avLst/>
          </a:prstGeom>
        </p:spPr>
        <p:txBody>
          <a:bodyPr wrap="square">
            <a:spAutoFit/>
          </a:bodyPr>
          <a:lstStyle/>
          <a:p>
            <a:r>
              <a:rPr lang="en-IN" sz="3600" dirty="0">
                <a:solidFill>
                  <a:schemeClr val="accent5"/>
                </a:solidFill>
                <a:latin typeface="Avenir Book" panose="02000503020000020003" pitchFamily="2" charset="0"/>
              </a:rPr>
              <a:t>TF-IDF is a numerical statistic that reflects the importance of a word in a given document and its frequency in a collection of documents.</a:t>
            </a:r>
          </a:p>
        </p:txBody>
      </p:sp>
      <p:pic>
        <p:nvPicPr>
          <p:cNvPr id="4" name="Picture 3">
            <a:extLst>
              <a:ext uri="{FF2B5EF4-FFF2-40B4-BE49-F238E27FC236}">
                <a16:creationId xmlns:a16="http://schemas.microsoft.com/office/drawing/2014/main" id="{429F27C0-4A15-3B44-94FD-4EFB119387F8}"/>
              </a:ext>
            </a:extLst>
          </p:cNvPr>
          <p:cNvPicPr>
            <a:picLocks noChangeAspect="1"/>
          </p:cNvPicPr>
          <p:nvPr/>
        </p:nvPicPr>
        <p:blipFill rotWithShape="1">
          <a:blip r:embed="rId3"/>
          <a:srcRect l="2802" r="2440" b="13837"/>
          <a:stretch/>
        </p:blipFill>
        <p:spPr>
          <a:xfrm>
            <a:off x="3325968" y="3331937"/>
            <a:ext cx="8779893" cy="4893614"/>
          </a:xfrm>
          <a:prstGeom prst="rect">
            <a:avLst/>
          </a:prstGeom>
        </p:spPr>
      </p:pic>
    </p:spTree>
    <p:extLst>
      <p:ext uri="{BB962C8B-B14F-4D97-AF65-F5344CB8AC3E}">
        <p14:creationId xmlns:p14="http://schemas.microsoft.com/office/powerpoint/2010/main" val="2640360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19</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867361" y="875256"/>
            <a:ext cx="10582517" cy="694591"/>
          </a:xfrm>
        </p:spPr>
        <p:txBody>
          <a:bodyPr/>
          <a:lstStyle/>
          <a:p>
            <a:r>
              <a:rPr lang="en-US" sz="5400" dirty="0">
                <a:latin typeface="Avenir Book" panose="02000503020000020003" pitchFamily="2" charset="0"/>
                <a:cs typeface="Calibri" panose="020F0502020204030204" pitchFamily="34" charset="0"/>
              </a:rPr>
              <a:t>Part of Speech (POS) Tagging</a:t>
            </a:r>
          </a:p>
        </p:txBody>
      </p:sp>
      <p:sp>
        <p:nvSpPr>
          <p:cNvPr id="3" name="Rectangle 2">
            <a:extLst>
              <a:ext uri="{FF2B5EF4-FFF2-40B4-BE49-F238E27FC236}">
                <a16:creationId xmlns:a16="http://schemas.microsoft.com/office/drawing/2014/main" id="{C545BDAF-1331-CE41-87CB-1ED2678559A2}"/>
              </a:ext>
            </a:extLst>
          </p:cNvPr>
          <p:cNvSpPr/>
          <p:nvPr/>
        </p:nvSpPr>
        <p:spPr>
          <a:xfrm>
            <a:off x="867362" y="1976022"/>
            <a:ext cx="14657560" cy="2308324"/>
          </a:xfrm>
          <a:prstGeom prst="rect">
            <a:avLst/>
          </a:prstGeom>
        </p:spPr>
        <p:txBody>
          <a:bodyPr wrap="square">
            <a:spAutoFit/>
          </a:bodyPr>
          <a:lstStyle/>
          <a:p>
            <a:r>
              <a:rPr lang="en-IN" sz="3600" dirty="0">
                <a:solidFill>
                  <a:schemeClr val="accent5"/>
                </a:solidFill>
                <a:latin typeface="Avenir Book" panose="02000503020000020003" pitchFamily="2" charset="0"/>
              </a:rPr>
              <a:t>Process of </a:t>
            </a:r>
            <a:r>
              <a:rPr lang="en-IN" sz="3600" dirty="0" err="1">
                <a:solidFill>
                  <a:schemeClr val="accent5"/>
                </a:solidFill>
                <a:latin typeface="Avenir Book" panose="02000503020000020003" pitchFamily="2" charset="0"/>
              </a:rPr>
              <a:t>labeling</a:t>
            </a:r>
            <a:r>
              <a:rPr lang="en-IN" sz="3600" dirty="0">
                <a:solidFill>
                  <a:schemeClr val="accent5"/>
                </a:solidFill>
                <a:latin typeface="Avenir Book" panose="02000503020000020003" pitchFamily="2" charset="0"/>
              </a:rPr>
              <a:t> each word in a sentence with its corresponding part of speech, such as noun, verb, adjective, adverb, preposition, pronoun, conjunction, and interjection. It provides important information about the grammatical structure of a sentence </a:t>
            </a:r>
          </a:p>
        </p:txBody>
      </p:sp>
      <p:pic>
        <p:nvPicPr>
          <p:cNvPr id="6" name="Picture 5">
            <a:extLst>
              <a:ext uri="{FF2B5EF4-FFF2-40B4-BE49-F238E27FC236}">
                <a16:creationId xmlns:a16="http://schemas.microsoft.com/office/drawing/2014/main" id="{1C4D04B9-D010-1F43-9AD5-88AEEA2F5521}"/>
              </a:ext>
            </a:extLst>
          </p:cNvPr>
          <p:cNvPicPr>
            <a:picLocks noChangeAspect="1"/>
          </p:cNvPicPr>
          <p:nvPr/>
        </p:nvPicPr>
        <p:blipFill>
          <a:blip r:embed="rId3"/>
          <a:stretch>
            <a:fillRect/>
          </a:stretch>
        </p:blipFill>
        <p:spPr>
          <a:xfrm>
            <a:off x="1635505" y="4536109"/>
            <a:ext cx="12509500" cy="3530600"/>
          </a:xfrm>
          <a:prstGeom prst="rect">
            <a:avLst/>
          </a:prstGeom>
        </p:spPr>
      </p:pic>
    </p:spTree>
    <p:extLst>
      <p:ext uri="{BB962C8B-B14F-4D97-AF65-F5344CB8AC3E}">
        <p14:creationId xmlns:p14="http://schemas.microsoft.com/office/powerpoint/2010/main" val="321498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20</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867361" y="875256"/>
            <a:ext cx="10582517" cy="694591"/>
          </a:xfrm>
        </p:spPr>
        <p:txBody>
          <a:bodyPr/>
          <a:lstStyle/>
          <a:p>
            <a:r>
              <a:rPr lang="en-US" sz="5400" dirty="0">
                <a:latin typeface="Avenir Book" panose="02000503020000020003" pitchFamily="2" charset="0"/>
                <a:cs typeface="Calibri" panose="020F0502020204030204" pitchFamily="34" charset="0"/>
              </a:rPr>
              <a:t>Word2Vec</a:t>
            </a:r>
          </a:p>
        </p:txBody>
      </p:sp>
      <p:sp>
        <p:nvSpPr>
          <p:cNvPr id="3" name="Rectangle 2">
            <a:extLst>
              <a:ext uri="{FF2B5EF4-FFF2-40B4-BE49-F238E27FC236}">
                <a16:creationId xmlns:a16="http://schemas.microsoft.com/office/drawing/2014/main" id="{C545BDAF-1331-CE41-87CB-1ED2678559A2}"/>
              </a:ext>
            </a:extLst>
          </p:cNvPr>
          <p:cNvSpPr/>
          <p:nvPr/>
        </p:nvSpPr>
        <p:spPr>
          <a:xfrm>
            <a:off x="867362" y="1976022"/>
            <a:ext cx="14657560" cy="5078313"/>
          </a:xfrm>
          <a:prstGeom prst="rect">
            <a:avLst/>
          </a:prstGeom>
        </p:spPr>
        <p:txBody>
          <a:bodyPr wrap="square">
            <a:spAutoFit/>
          </a:bodyPr>
          <a:lstStyle/>
          <a:p>
            <a:r>
              <a:rPr lang="en-IN" sz="3600" dirty="0">
                <a:solidFill>
                  <a:schemeClr val="accent5"/>
                </a:solidFill>
                <a:latin typeface="Avenir Book" panose="02000503020000020003" pitchFamily="2" charset="0"/>
              </a:rPr>
              <a:t>Word2vec is a popular algorithm used for generating word embeddings. Word embeddings are a way to represent each word by a vector.</a:t>
            </a:r>
          </a:p>
          <a:p>
            <a:endParaRPr lang="en-IN" sz="3600" dirty="0">
              <a:solidFill>
                <a:schemeClr val="accent5"/>
              </a:solidFill>
              <a:latin typeface="Avenir Book" panose="02000503020000020003" pitchFamily="2" charset="0"/>
            </a:endParaRPr>
          </a:p>
          <a:p>
            <a:r>
              <a:rPr lang="en-IN" sz="3600" dirty="0">
                <a:solidFill>
                  <a:schemeClr val="accent5"/>
                </a:solidFill>
                <a:latin typeface="Avenir Book" panose="02000503020000020003" pitchFamily="2" charset="0"/>
              </a:rPr>
              <a:t>The Word2vec algorithm can be trained using two approaches: Continuous Bag of Words (CBOW) and Skip-gram. In the CBOW approach, the algorithm takes a context of words as input and predicts the target word. In the Skip-gram approach, the algorithm takes a target word as input and predicts the context words.</a:t>
            </a:r>
          </a:p>
        </p:txBody>
      </p:sp>
    </p:spTree>
    <p:extLst>
      <p:ext uri="{BB962C8B-B14F-4D97-AF65-F5344CB8AC3E}">
        <p14:creationId xmlns:p14="http://schemas.microsoft.com/office/powerpoint/2010/main" val="221190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2B9AD6-0EF7-B043-A1F2-00C84EB95D5D}"/>
              </a:ext>
            </a:extLst>
          </p:cNvPr>
          <p:cNvSpPr>
            <a:spLocks noGrp="1"/>
          </p:cNvSpPr>
          <p:nvPr>
            <p:ph type="sldNum" sz="quarter" idx="19"/>
          </p:nvPr>
        </p:nvSpPr>
        <p:spPr/>
        <p:txBody>
          <a:bodyPr/>
          <a:lstStyle/>
          <a:p>
            <a:fld id="{DEF3F5F5-7776-394F-A41F-3BAFC9CC9F8E}" type="slidenum">
              <a:rPr lang="en-US" smtClean="0"/>
              <a:pPr/>
              <a:t>21</a:t>
            </a:fld>
            <a:endParaRPr lang="en-US" dirty="0"/>
          </a:p>
        </p:txBody>
      </p:sp>
      <p:sp>
        <p:nvSpPr>
          <p:cNvPr id="17" name="Title 5">
            <a:extLst>
              <a:ext uri="{FF2B5EF4-FFF2-40B4-BE49-F238E27FC236}">
                <a16:creationId xmlns:a16="http://schemas.microsoft.com/office/drawing/2014/main" id="{40BD5E71-9381-BF49-B803-B8AEE443DE6B}"/>
              </a:ext>
            </a:extLst>
          </p:cNvPr>
          <p:cNvSpPr>
            <a:spLocks noGrp="1"/>
          </p:cNvSpPr>
          <p:nvPr>
            <p:ph type="title"/>
          </p:nvPr>
        </p:nvSpPr>
        <p:spPr>
          <a:xfrm>
            <a:off x="867361" y="875256"/>
            <a:ext cx="10582517" cy="694591"/>
          </a:xfrm>
        </p:spPr>
        <p:txBody>
          <a:bodyPr/>
          <a:lstStyle/>
          <a:p>
            <a:r>
              <a:rPr lang="en-US" sz="5400" dirty="0">
                <a:latin typeface="Avenir Book" panose="02000503020000020003" pitchFamily="2" charset="0"/>
                <a:cs typeface="Calibri" panose="020F0502020204030204" pitchFamily="34" charset="0"/>
              </a:rPr>
              <a:t>Word2Vec</a:t>
            </a:r>
          </a:p>
        </p:txBody>
      </p:sp>
      <p:pic>
        <p:nvPicPr>
          <p:cNvPr id="6" name="Picture 5">
            <a:extLst>
              <a:ext uri="{FF2B5EF4-FFF2-40B4-BE49-F238E27FC236}">
                <a16:creationId xmlns:a16="http://schemas.microsoft.com/office/drawing/2014/main" id="{ECA89258-0AD5-964C-9DBF-5BF72266EA05}"/>
              </a:ext>
            </a:extLst>
          </p:cNvPr>
          <p:cNvPicPr>
            <a:picLocks noChangeAspect="1"/>
          </p:cNvPicPr>
          <p:nvPr/>
        </p:nvPicPr>
        <p:blipFill>
          <a:blip r:embed="rId3"/>
          <a:stretch>
            <a:fillRect/>
          </a:stretch>
        </p:blipFill>
        <p:spPr>
          <a:xfrm>
            <a:off x="1861273" y="2021233"/>
            <a:ext cx="12987787" cy="6104936"/>
          </a:xfrm>
          <a:prstGeom prst="rect">
            <a:avLst/>
          </a:prstGeom>
        </p:spPr>
      </p:pic>
    </p:spTree>
    <p:extLst>
      <p:ext uri="{BB962C8B-B14F-4D97-AF65-F5344CB8AC3E}">
        <p14:creationId xmlns:p14="http://schemas.microsoft.com/office/powerpoint/2010/main" val="3469044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84754" y="3679485"/>
            <a:ext cx="4234606" cy="1185123"/>
          </a:xfrm>
        </p:spPr>
        <p:txBody>
          <a:bodyPr>
            <a:normAutofit fontScale="90000"/>
          </a:bodyPr>
          <a:lstStyle/>
          <a:p>
            <a:r>
              <a:rPr lang="en-US" dirty="0">
                <a:latin typeface="Avenir Medium" panose="02000503020000020003" pitchFamily="2" charset="0"/>
                <a:cs typeface="Calibri" panose="020F0502020204030204" pitchFamily="34" charset="0"/>
              </a:rPr>
              <a:t>Thank you!</a:t>
            </a:r>
          </a:p>
        </p:txBody>
      </p:sp>
    </p:spTree>
    <p:extLst>
      <p:ext uri="{BB962C8B-B14F-4D97-AF65-F5344CB8AC3E}">
        <p14:creationId xmlns:p14="http://schemas.microsoft.com/office/powerpoint/2010/main" val="2283322691"/>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19868</TotalTime>
  <Words>1098</Words>
  <Application>Microsoft Macintosh PowerPoint</Application>
  <PresentationFormat>Custom</PresentationFormat>
  <Paragraphs>154</Paragraphs>
  <Slides>22</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Avenir</vt:lpstr>
      <vt:lpstr>Avenir Book</vt:lpstr>
      <vt:lpstr>Avenir Medium</vt:lpstr>
      <vt:lpstr>Calibri</vt:lpstr>
      <vt:lpstr>Wingdings</vt:lpstr>
      <vt:lpstr>Office Theme</vt:lpstr>
      <vt:lpstr>Welcome to Week 10</vt:lpstr>
      <vt:lpstr>Natural Language Processing</vt:lpstr>
      <vt:lpstr>Natural Language Processing</vt:lpstr>
      <vt:lpstr>Python Tools for NLP</vt:lpstr>
      <vt:lpstr>NLP Data Cleaning</vt:lpstr>
      <vt:lpstr>NLP Data Cleaning</vt:lpstr>
      <vt:lpstr>NLP Data Cleaning</vt:lpstr>
      <vt:lpstr>NLP Data Cleaning</vt:lpstr>
      <vt:lpstr>NLP Data Cleaning</vt:lpstr>
      <vt:lpstr>NLP Data Cleaning</vt:lpstr>
      <vt:lpstr>NLP Data Cleaning</vt:lpstr>
      <vt:lpstr>NLP Data Cleaning</vt:lpstr>
      <vt:lpstr>NLP Data Cleaning</vt:lpstr>
      <vt:lpstr>NLP Data Cleaning</vt:lpstr>
      <vt:lpstr>Transform Unstructured Text to Structured Format</vt:lpstr>
      <vt:lpstr>Bag of Words</vt:lpstr>
      <vt:lpstr>N-grams</vt:lpstr>
      <vt:lpstr>TF-IDF</vt:lpstr>
      <vt:lpstr>Part of Speech (POS) Tagging</vt:lpstr>
      <vt:lpstr>Word2Vec</vt:lpstr>
      <vt:lpstr>Word2Vec</vt:lpstr>
      <vt:lpstr>Thank you!</vt:lpstr>
    </vt:vector>
  </TitlesOfParts>
  <Company>Salt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Daniela Chavez Ackermann</dc:creator>
  <cp:lastModifiedBy>Swapnil Marutirao Kangralkar</cp:lastModifiedBy>
  <cp:revision>370</cp:revision>
  <dcterms:created xsi:type="dcterms:W3CDTF">2016-12-21T16:02:28Z</dcterms:created>
  <dcterms:modified xsi:type="dcterms:W3CDTF">2024-03-13T02:34:58Z</dcterms:modified>
</cp:coreProperties>
</file>